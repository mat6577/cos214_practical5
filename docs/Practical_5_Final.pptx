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2"/>
  </p:notesMasterIdLst>
  <p:handoutMasterIdLst>
    <p:handoutMasterId r:id="rId23"/>
  </p:handoutMasterIdLst>
  <p:sldIdLst>
    <p:sldId id="436" r:id="rId5"/>
    <p:sldId id="450" r:id="rId6"/>
    <p:sldId id="449" r:id="rId7"/>
    <p:sldId id="440" r:id="rId8"/>
    <p:sldId id="451" r:id="rId9"/>
    <p:sldId id="452" r:id="rId10"/>
    <p:sldId id="453" r:id="rId11"/>
    <p:sldId id="454" r:id="rId12"/>
    <p:sldId id="455" r:id="rId13"/>
    <p:sldId id="456" r:id="rId14"/>
    <p:sldId id="457" r:id="rId15"/>
    <p:sldId id="458" r:id="rId16"/>
    <p:sldId id="459" r:id="rId17"/>
    <p:sldId id="460" r:id="rId18"/>
    <p:sldId id="461" r:id="rId19"/>
    <p:sldId id="462" r:id="rId20"/>
    <p:sldId id="46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56558F1-A933-43E3-8FFD-F59B8560E146}">
          <p14:sldIdLst>
            <p14:sldId id="436"/>
            <p14:sldId id="450"/>
          </p14:sldIdLst>
        </p14:section>
        <p14:section name="title" id="{10B45B0A-FC76-4BAE-B3CB-7A4FBAF7D896}">
          <p14:sldIdLst>
            <p14:sldId id="449"/>
            <p14:sldId id="440"/>
            <p14:sldId id="451"/>
            <p14:sldId id="452"/>
            <p14:sldId id="453"/>
            <p14:sldId id="454"/>
            <p14:sldId id="455"/>
            <p14:sldId id="456"/>
            <p14:sldId id="457"/>
            <p14:sldId id="458"/>
            <p14:sldId id="459"/>
            <p14:sldId id="460"/>
            <p14:sldId id="461"/>
            <p14:sldId id="462"/>
            <p14:sldId id="46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187"/>
    <a:srgbClr val="0C40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p:cViewPr varScale="1">
        <p:scale>
          <a:sx n="65" d="100"/>
          <a:sy n="65" d="100"/>
        </p:scale>
        <p:origin x="724" y="60"/>
      </p:cViewPr>
      <p:guideLst/>
    </p:cSldViewPr>
  </p:slideViewPr>
  <p:outlineViewPr>
    <p:cViewPr>
      <p:scale>
        <a:sx n="33" d="100"/>
        <a:sy n="33" d="100"/>
      </p:scale>
      <p:origin x="0" y="-17146"/>
    </p:cViewPr>
  </p:outlineViewPr>
  <p:notesTextViewPr>
    <p:cViewPr>
      <p:scale>
        <a:sx n="1" d="1"/>
        <a:sy n="1" d="1"/>
      </p:scale>
      <p:origin x="0" y="0"/>
    </p:cViewPr>
  </p:notesTextViewPr>
  <p:sorterViewPr>
    <p:cViewPr varScale="1">
      <p:scale>
        <a:sx n="1" d="1"/>
        <a:sy n="1" d="1"/>
      </p:scale>
      <p:origin x="0" y="-8717"/>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4D2272-D660-A337-AEF3-BE066BD545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1FE5A70-71C2-F335-270C-B94537340C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C5A369-CA0E-4FC6-90EE-5FA969A08EF8}" type="datetimeFigureOut">
              <a:rPr lang="en-US" smtClean="0"/>
              <a:t>9/20/2026</a:t>
            </a:fld>
            <a:endParaRPr lang="en-US" dirty="0"/>
          </a:p>
        </p:txBody>
      </p:sp>
      <p:sp>
        <p:nvSpPr>
          <p:cNvPr id="4" name="Footer Placeholder 3">
            <a:extLst>
              <a:ext uri="{FF2B5EF4-FFF2-40B4-BE49-F238E27FC236}">
                <a16:creationId xmlns:a16="http://schemas.microsoft.com/office/drawing/2014/main" id="{D91E1B03-0F86-16E7-11BE-81F9F4CD66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4524B8-3914-99B2-2620-0F2A88D335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9210F9-8331-407C-A034-F95DCB303EBC}" type="slidenum">
              <a:rPr lang="en-US" smtClean="0"/>
              <a:t>‹#›</a:t>
            </a:fld>
            <a:endParaRPr lang="en-US" dirty="0"/>
          </a:p>
        </p:txBody>
      </p:sp>
    </p:spTree>
    <p:extLst>
      <p:ext uri="{BB962C8B-B14F-4D97-AF65-F5344CB8AC3E}">
        <p14:creationId xmlns:p14="http://schemas.microsoft.com/office/powerpoint/2010/main" val="931005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9/20/2026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1</a:t>
            </a:fld>
            <a:endParaRPr lang="en-US" dirty="0"/>
          </a:p>
        </p:txBody>
      </p:sp>
    </p:spTree>
    <p:extLst>
      <p:ext uri="{BB962C8B-B14F-4D97-AF65-F5344CB8AC3E}">
        <p14:creationId xmlns:p14="http://schemas.microsoft.com/office/powerpoint/2010/main" val="2369047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4</a:t>
            </a:fld>
            <a:endParaRPr lang="en-US" dirty="0"/>
          </a:p>
        </p:txBody>
      </p:sp>
    </p:spTree>
    <p:extLst>
      <p:ext uri="{BB962C8B-B14F-4D97-AF65-F5344CB8AC3E}">
        <p14:creationId xmlns:p14="http://schemas.microsoft.com/office/powerpoint/2010/main" val="199377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C84D7-647A-E87A-F367-623BF247E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3B70C4-083B-ADFF-6243-B8D04A1CA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ABCF87-3C2E-1959-FDBE-BDECE73404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31E8A0-B5F3-6A18-9AFF-DDEECFC7AF7E}"/>
              </a:ext>
            </a:extLst>
          </p:cNvPr>
          <p:cNvSpPr>
            <a:spLocks noGrp="1"/>
          </p:cNvSpPr>
          <p:nvPr>
            <p:ph type="sldNum" sz="quarter" idx="5"/>
          </p:nvPr>
        </p:nvSpPr>
        <p:spPr/>
        <p:txBody>
          <a:bodyPr/>
          <a:lstStyle/>
          <a:p>
            <a:fld id="{32BF9438-3EEF-4192-9815-F6F44770AEF7}" type="slidenum">
              <a:rPr lang="en-US" smtClean="0"/>
              <a:t>5</a:t>
            </a:fld>
            <a:endParaRPr lang="en-US" dirty="0"/>
          </a:p>
        </p:txBody>
      </p:sp>
    </p:spTree>
    <p:extLst>
      <p:ext uri="{BB962C8B-B14F-4D97-AF65-F5344CB8AC3E}">
        <p14:creationId xmlns:p14="http://schemas.microsoft.com/office/powerpoint/2010/main" val="1894711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74740-0821-8478-6021-7AFA3575B6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973FF-E70B-59EA-286F-1FD43B6AE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4064A-83FA-B2A6-42D7-150B4A76E7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7B235-DD49-BAF1-DB8B-35EA660F1AEC}"/>
              </a:ext>
            </a:extLst>
          </p:cNvPr>
          <p:cNvSpPr>
            <a:spLocks noGrp="1"/>
          </p:cNvSpPr>
          <p:nvPr>
            <p:ph type="sldNum" sz="quarter" idx="5"/>
          </p:nvPr>
        </p:nvSpPr>
        <p:spPr/>
        <p:txBody>
          <a:bodyPr/>
          <a:lstStyle/>
          <a:p>
            <a:fld id="{32BF9438-3EEF-4192-9815-F6F44770AEF7}" type="slidenum">
              <a:rPr lang="en-US" smtClean="0"/>
              <a:t>6</a:t>
            </a:fld>
            <a:endParaRPr lang="en-US" dirty="0"/>
          </a:p>
        </p:txBody>
      </p:sp>
    </p:spTree>
    <p:extLst>
      <p:ext uri="{BB962C8B-B14F-4D97-AF65-F5344CB8AC3E}">
        <p14:creationId xmlns:p14="http://schemas.microsoft.com/office/powerpoint/2010/main" val="11191253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49CBB-5015-790A-6C2C-1F40052FB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FFB03-965B-6E09-E0B7-B144E9B76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B1037-35F3-4B65-AA08-02D8AF35ED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3347E1-20B5-3A8E-900F-29C8503373A2}"/>
              </a:ext>
            </a:extLst>
          </p:cNvPr>
          <p:cNvSpPr>
            <a:spLocks noGrp="1"/>
          </p:cNvSpPr>
          <p:nvPr>
            <p:ph type="sldNum" sz="quarter" idx="5"/>
          </p:nvPr>
        </p:nvSpPr>
        <p:spPr/>
        <p:txBody>
          <a:bodyPr/>
          <a:lstStyle/>
          <a:p>
            <a:fld id="{32BF9438-3EEF-4192-9815-F6F44770AEF7}" type="slidenum">
              <a:rPr lang="en-US" smtClean="0"/>
              <a:t>7</a:t>
            </a:fld>
            <a:endParaRPr lang="en-US" dirty="0"/>
          </a:p>
        </p:txBody>
      </p:sp>
    </p:spTree>
    <p:extLst>
      <p:ext uri="{BB962C8B-B14F-4D97-AF65-F5344CB8AC3E}">
        <p14:creationId xmlns:p14="http://schemas.microsoft.com/office/powerpoint/2010/main" val="2491404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endParaRPr lang="en-US" dirty="0"/>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22363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sz="1000"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8209394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4218702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62290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3421097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sz="1000" dirty="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9089771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sz="1000" dirty="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94274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47392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036526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7498561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361101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1">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5040DA2-B75D-1B49-51F9-967501F7F67B}"/>
              </a:ext>
            </a:extLst>
          </p:cNvPr>
          <p:cNvSpPr>
            <a:spLocks noGrp="1"/>
          </p:cNvSpPr>
          <p:nvPr>
            <p:ph type="title" hasCustomPrompt="1"/>
          </p:nvPr>
        </p:nvSpPr>
        <p:spPr>
          <a:xfrm>
            <a:off x="994876" y="887638"/>
            <a:ext cx="10202248" cy="5094496"/>
          </a:xfrm>
        </p:spPr>
        <p:txBody>
          <a:bodyPr/>
          <a:lstStyle>
            <a:lvl1pPr algn="ctr">
              <a:defRPr sz="4800">
                <a:solidFill>
                  <a:schemeClr val="bg1"/>
                </a:solidFill>
              </a:defRPr>
            </a:lvl1pPr>
          </a:lstStyle>
          <a:p>
            <a:r>
              <a:rPr lang="en-US" dirty="0"/>
              <a:t>Click to add title</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
        <p:nvSpPr>
          <p:cNvPr id="2" name="Rectangle 1">
            <a:extLst>
              <a:ext uri="{FF2B5EF4-FFF2-40B4-BE49-F238E27FC236}">
                <a16:creationId xmlns:a16="http://schemas.microsoft.com/office/drawing/2014/main" id="{8E93BDAB-CB06-403B-00FD-9D1C2812A298}"/>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6FB1FDB-9C8A-890A-5051-8D49E105FD49}"/>
              </a:ext>
              <a:ext uri="{C183D7F6-B498-43B3-948B-1728B52AA6E4}">
                <adec:decorative xmlns:adec="http://schemas.microsoft.com/office/drawing/2017/decorative" val="1"/>
              </a:ext>
            </a:extLst>
          </p:cNvPr>
          <p:cNvSpPr/>
          <p:nvPr userDrawn="1"/>
        </p:nvSpPr>
        <p:spPr>
          <a:xfrm>
            <a:off x="1" y="5983104"/>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21">
            <a:extLst>
              <a:ext uri="{FF2B5EF4-FFF2-40B4-BE49-F238E27FC236}">
                <a16:creationId xmlns:a16="http://schemas.microsoft.com/office/drawing/2014/main" id="{46056E81-9CB5-42E9-6689-B711F575C8F2}"/>
              </a:ext>
              <a:ext uri="{C183D7F6-B498-43B3-948B-1728B52AA6E4}">
                <adec:decorative xmlns:adec="http://schemas.microsoft.com/office/drawing/2017/decorative" val="1"/>
              </a:ext>
            </a:extLst>
          </p:cNvPr>
          <p:cNvSpPr/>
          <p:nvPr userDrawn="1"/>
        </p:nvSpPr>
        <p:spPr>
          <a:xfrm flipV="1">
            <a:off x="8981493" y="0"/>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22">
            <a:extLst>
              <a:ext uri="{FF2B5EF4-FFF2-40B4-BE49-F238E27FC236}">
                <a16:creationId xmlns:a16="http://schemas.microsoft.com/office/drawing/2014/main" id="{3D075254-6FC4-6738-BBBE-1BACB99E424A}"/>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56202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610C35C-5361-BD30-EB79-01BD72158B57}"/>
              </a:ext>
              <a:ext uri="{C183D7F6-B498-43B3-948B-1728B52AA6E4}">
                <adec:decorative xmlns:adec="http://schemas.microsoft.com/office/drawing/2017/decorative" val="1"/>
              </a:ext>
            </a:extLst>
          </p:cNvPr>
          <p:cNvSpPr/>
          <p:nvPr userDrawn="1"/>
        </p:nvSpPr>
        <p:spPr>
          <a:xfrm rot="5400000">
            <a:off x="-2992038" y="2992045"/>
            <a:ext cx="6858000"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reeform 26">
            <a:extLst>
              <a:ext uri="{FF2B5EF4-FFF2-40B4-BE49-F238E27FC236}">
                <a16:creationId xmlns:a16="http://schemas.microsoft.com/office/drawing/2014/main" id="{948A7171-32A3-1CAC-DDFD-7C44DDAF06EA}"/>
              </a:ext>
              <a:ext uri="{C183D7F6-B498-43B3-948B-1728B52AA6E4}">
                <adec:decorative xmlns:adec="http://schemas.microsoft.com/office/drawing/2017/decorative" val="1"/>
              </a:ext>
            </a:extLst>
          </p:cNvPr>
          <p:cNvSpPr>
            <a:spLocks noChangeAspect="1"/>
          </p:cNvSpPr>
          <p:nvPr userDrawn="1"/>
        </p:nvSpPr>
        <p:spPr>
          <a:xfrm flipH="1" flipV="1">
            <a:off x="1" y="0"/>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47">
            <a:extLst>
              <a:ext uri="{FF2B5EF4-FFF2-40B4-BE49-F238E27FC236}">
                <a16:creationId xmlns:a16="http://schemas.microsoft.com/office/drawing/2014/main" id="{06FD5EAC-FAC4-CDB4-6AB8-809E940F0780}"/>
              </a:ext>
              <a:ext uri="{C183D7F6-B498-43B3-948B-1728B52AA6E4}">
                <adec:decorative xmlns:adec="http://schemas.microsoft.com/office/drawing/2017/decorative" val="1"/>
              </a:ext>
            </a:extLst>
          </p:cNvPr>
          <p:cNvSpPr/>
          <p:nvPr userDrawn="1"/>
        </p:nvSpPr>
        <p:spPr>
          <a:xfrm>
            <a:off x="8991644" y="3657688"/>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Title 9">
            <a:extLst>
              <a:ext uri="{FF2B5EF4-FFF2-40B4-BE49-F238E27FC236}">
                <a16:creationId xmlns:a16="http://schemas.microsoft.com/office/drawing/2014/main" id="{6DA13352-25BC-FD28-A34C-DD204D5BF178}"/>
              </a:ext>
            </a:extLst>
          </p:cNvPr>
          <p:cNvSpPr>
            <a:spLocks noGrp="1"/>
          </p:cNvSpPr>
          <p:nvPr>
            <p:ph type="title" hasCustomPrompt="1"/>
          </p:nvPr>
        </p:nvSpPr>
        <p:spPr>
          <a:xfrm>
            <a:off x="1381748" y="246183"/>
            <a:ext cx="9525000" cy="1919521"/>
          </a:xfrm>
        </p:spPr>
        <p:txBody>
          <a:bodyPr>
            <a:normAutofit/>
          </a:bodyPr>
          <a:lstStyle>
            <a:lvl1pPr>
              <a:defRPr sz="3600">
                <a:solidFill>
                  <a:schemeClr val="accent2">
                    <a:lumMod val="75000"/>
                  </a:schemeClr>
                </a:solidFill>
              </a:defRPr>
            </a:lvl1pPr>
          </a:lstStyle>
          <a:p>
            <a:r>
              <a:rPr lang="en-US" dirty="0"/>
              <a:t>Click to add title</a:t>
            </a:r>
          </a:p>
        </p:txBody>
      </p:sp>
      <p:sp>
        <p:nvSpPr>
          <p:cNvPr id="12" name="Content Placeholder 11">
            <a:extLst>
              <a:ext uri="{FF2B5EF4-FFF2-40B4-BE49-F238E27FC236}">
                <a16:creationId xmlns:a16="http://schemas.microsoft.com/office/drawing/2014/main" id="{034108AC-4ED2-99E6-0212-0AC0802C553A}"/>
              </a:ext>
            </a:extLst>
          </p:cNvPr>
          <p:cNvSpPr>
            <a:spLocks noGrp="1"/>
          </p:cNvSpPr>
          <p:nvPr>
            <p:ph sz="quarter" idx="10" hasCustomPrompt="1"/>
          </p:nvPr>
        </p:nvSpPr>
        <p:spPr>
          <a:xfrm>
            <a:off x="1371600" y="2274033"/>
            <a:ext cx="9525000" cy="3317875"/>
          </a:xfrm>
        </p:spPr>
        <p:txBody>
          <a:bodyPr>
            <a:normAutofit/>
          </a:bodyPr>
          <a:lstStyle>
            <a:lvl1pPr>
              <a:spcBef>
                <a:spcPts val="0"/>
              </a:spcBef>
              <a:spcAft>
                <a:spcPts val="600"/>
              </a:spcAft>
              <a:buClr>
                <a:schemeClr val="tx1"/>
              </a:buClr>
              <a:defRPr sz="1800"/>
            </a:lvl1pPr>
            <a:lvl2pPr>
              <a:spcBef>
                <a:spcPts val="0"/>
              </a:spcBef>
              <a:spcAft>
                <a:spcPts val="600"/>
              </a:spcAft>
              <a:buClr>
                <a:schemeClr val="tx1"/>
              </a:buClr>
              <a:defRPr sz="1600"/>
            </a:lvl2pPr>
            <a:lvl3pPr>
              <a:spcBef>
                <a:spcPts val="0"/>
              </a:spcBef>
              <a:spcAft>
                <a:spcPts val="600"/>
              </a:spcAft>
              <a:buClr>
                <a:schemeClr val="tx1"/>
              </a:buClr>
              <a:defRPr sz="1400"/>
            </a:lvl3pPr>
            <a:lvl4pPr>
              <a:spcBef>
                <a:spcPts val="0"/>
              </a:spcBef>
              <a:spcAft>
                <a:spcPts val="600"/>
              </a:spcAft>
              <a:buClr>
                <a:schemeClr val="tx1"/>
              </a:buClr>
              <a:defRPr sz="1200"/>
            </a:lvl4pPr>
            <a:lvl5pPr>
              <a:spcBef>
                <a:spcPts val="0"/>
              </a:spcBef>
              <a:spcAft>
                <a:spcPts val="600"/>
              </a:spcAft>
              <a:buClr>
                <a:schemeClr val="tx1"/>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222593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and Table">
    <p:spTree>
      <p:nvGrpSpPr>
        <p:cNvPr id="1" name=""/>
        <p:cNvGrpSpPr/>
        <p:nvPr/>
      </p:nvGrpSpPr>
      <p:grpSpPr>
        <a:xfrm>
          <a:off x="0" y="0"/>
          <a:ext cx="0" cy="0"/>
          <a:chOff x="0" y="0"/>
          <a:chExt cx="0" cy="0"/>
        </a:xfrm>
      </p:grpSpPr>
      <p:sp>
        <p:nvSpPr>
          <p:cNvPr id="5" name="Freeform 9">
            <a:extLst>
              <a:ext uri="{FF2B5EF4-FFF2-40B4-BE49-F238E27FC236}">
                <a16:creationId xmlns:a16="http://schemas.microsoft.com/office/drawing/2014/main" id="{BE9B1BD7-8F62-244D-062B-D0A716D16D23}"/>
              </a:ext>
              <a:ext uri="{C183D7F6-B498-43B3-948B-1728B52AA6E4}">
                <adec:decorative xmlns:adec="http://schemas.microsoft.com/office/drawing/2017/decorative" val="1"/>
              </a:ext>
            </a:extLst>
          </p:cNvPr>
          <p:cNvSpPr>
            <a:spLocks noChangeAspect="1"/>
          </p:cNvSpPr>
          <p:nvPr userDrawn="1"/>
        </p:nvSpPr>
        <p:spPr>
          <a:xfrm flipH="1" flipV="1">
            <a:off x="0" y="0"/>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itle 7">
            <a:extLst>
              <a:ext uri="{FF2B5EF4-FFF2-40B4-BE49-F238E27FC236}">
                <a16:creationId xmlns:a16="http://schemas.microsoft.com/office/drawing/2014/main" id="{54BAE39C-758E-B299-0906-86DA058BCD4A}"/>
              </a:ext>
            </a:extLst>
          </p:cNvPr>
          <p:cNvSpPr>
            <a:spLocks noGrp="1"/>
          </p:cNvSpPr>
          <p:nvPr>
            <p:ph type="title"/>
          </p:nvPr>
        </p:nvSpPr>
        <p:spPr>
          <a:xfrm>
            <a:off x="1365975" y="345440"/>
            <a:ext cx="9448803" cy="1743542"/>
          </a:xfrm>
        </p:spPr>
        <p:txBody>
          <a:bodyPr>
            <a:normAutofit/>
          </a:bodyPr>
          <a:lstStyle>
            <a:lvl1pPr>
              <a:defRPr sz="3600">
                <a:solidFill>
                  <a:schemeClr val="accent2">
                    <a:lumMod val="75000"/>
                  </a:schemeClr>
                </a:solidFill>
              </a:defRPr>
            </a:lvl1pPr>
          </a:lstStyle>
          <a:p>
            <a:r>
              <a:rPr lang="en-US"/>
              <a:t>Click to edit Master title style</a:t>
            </a:r>
          </a:p>
        </p:txBody>
      </p:sp>
      <p:sp>
        <p:nvSpPr>
          <p:cNvPr id="10" name="Table Placeholder 9">
            <a:extLst>
              <a:ext uri="{FF2B5EF4-FFF2-40B4-BE49-F238E27FC236}">
                <a16:creationId xmlns:a16="http://schemas.microsoft.com/office/drawing/2014/main" id="{ED21C7D0-0E84-DFA8-FC77-93D7B17FA7EF}"/>
              </a:ext>
            </a:extLst>
          </p:cNvPr>
          <p:cNvSpPr>
            <a:spLocks noGrp="1"/>
          </p:cNvSpPr>
          <p:nvPr>
            <p:ph type="tbl" sz="quarter" idx="10"/>
          </p:nvPr>
        </p:nvSpPr>
        <p:spPr>
          <a:xfrm>
            <a:off x="1365250" y="2295525"/>
            <a:ext cx="9448800" cy="3652838"/>
          </a:xfrm>
        </p:spPr>
        <p:txBody>
          <a:bodyPr/>
          <a:lstStyle>
            <a:lvl1pPr marL="0" indent="0">
              <a:buNone/>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844F72DC-A10E-0921-2E94-08CAC9D50351}"/>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chemeClr val="accent2">
                    <a:lumMod val="75000"/>
                  </a:schemeClr>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6435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sz="1000" dirty="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305364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8" r:id="rId13"/>
    <p:sldLayoutId id="2147483735" r:id="rId14"/>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Mat6577/COS214_Practical5" TargetMode="Externa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0D9AD-F97D-8DCF-97C2-FEE69475C0BC}"/>
              </a:ext>
            </a:extLst>
          </p:cNvPr>
          <p:cNvSpPr>
            <a:spLocks noGrp="1"/>
          </p:cNvSpPr>
          <p:nvPr>
            <p:ph type="title"/>
          </p:nvPr>
        </p:nvSpPr>
        <p:spPr/>
        <p:txBody>
          <a:bodyPr>
            <a:normAutofit fontScale="90000"/>
          </a:bodyPr>
          <a:lstStyle/>
          <a:p>
            <a:br>
              <a:rPr lang="en-ZA" u="sng" dirty="0"/>
            </a:br>
            <a:br>
              <a:rPr lang="en-ZA" u="sng" dirty="0"/>
            </a:br>
            <a:r>
              <a:rPr lang="en-ZA" u="sng" dirty="0" err="1"/>
              <a:t>CampusGuard</a:t>
            </a:r>
            <a:br>
              <a:rPr lang="en-ZA" u="sng" dirty="0"/>
            </a:br>
            <a:br>
              <a:rPr lang="en-ZA" u="sng" dirty="0"/>
            </a:br>
            <a:br>
              <a:rPr lang="en-ZA" sz="800" u="sng" dirty="0"/>
            </a:br>
            <a:r>
              <a:rPr lang="en-ZA" sz="1400" dirty="0"/>
              <a:t>Members:</a:t>
            </a:r>
            <a:br>
              <a:rPr lang="en-ZA" sz="1400" dirty="0"/>
            </a:br>
            <a:br>
              <a:rPr lang="en-ZA" sz="1400" dirty="0"/>
            </a:br>
            <a:r>
              <a:rPr lang="en-ZA" sz="1400" dirty="0">
                <a:latin typeface="+mn-lt"/>
              </a:rPr>
              <a:t>Ashley Mthemba </a:t>
            </a:r>
            <a:r>
              <a:rPr lang="en-ZA" sz="1400" dirty="0"/>
              <a:t>–</a:t>
            </a:r>
            <a:r>
              <a:rPr lang="en-ZA" sz="1400" dirty="0">
                <a:latin typeface="+mn-lt"/>
              </a:rPr>
              <a:t> u25072235</a:t>
            </a:r>
            <a:br>
              <a:rPr lang="en-ZA" sz="1400" dirty="0">
                <a:latin typeface="+mn-lt"/>
              </a:rPr>
            </a:br>
            <a:br>
              <a:rPr lang="en-ZA" sz="1400" dirty="0">
                <a:latin typeface="+mn-lt"/>
              </a:rPr>
            </a:br>
            <a:r>
              <a:rPr lang="en-ZA" sz="1400" dirty="0">
                <a:latin typeface="+mn-lt"/>
              </a:rPr>
              <a:t>Tebello Mohohoma – </a:t>
            </a:r>
            <a:br>
              <a:rPr lang="en-ZA" sz="1400" dirty="0">
                <a:latin typeface="+mn-lt"/>
              </a:rPr>
            </a:br>
            <a:br>
              <a:rPr lang="en-ZA" sz="1400" dirty="0">
                <a:latin typeface="+mn-lt"/>
              </a:rPr>
            </a:br>
            <a:r>
              <a:rPr lang="en-ZA" sz="1400" dirty="0">
                <a:latin typeface="+mn-lt"/>
              </a:rPr>
              <a:t>Navela Hlungwani </a:t>
            </a:r>
            <a:r>
              <a:rPr lang="en-ZA" sz="1400" dirty="0"/>
              <a:t>– </a:t>
            </a:r>
            <a:br>
              <a:rPr lang="en-ZA" sz="1400" dirty="0"/>
            </a:br>
            <a:br>
              <a:rPr lang="en-ZA" dirty="0"/>
            </a:br>
            <a:endParaRPr lang="en-US" dirty="0"/>
          </a:p>
        </p:txBody>
      </p:sp>
      <p:sp>
        <p:nvSpPr>
          <p:cNvPr id="3" name="Slide Number Placeholder 2">
            <a:extLst>
              <a:ext uri="{FF2B5EF4-FFF2-40B4-BE49-F238E27FC236}">
                <a16:creationId xmlns:a16="http://schemas.microsoft.com/office/drawing/2014/main" id="{5D9882FA-049D-25F3-3F24-590E9D0F184A}"/>
              </a:ext>
            </a:extLst>
          </p:cNvPr>
          <p:cNvSpPr>
            <a:spLocks noGrp="1"/>
          </p:cNvSpPr>
          <p:nvPr>
            <p:ph type="sldNum" sz="quarter" idx="4"/>
          </p:nvPr>
        </p:nvSpPr>
        <p:spPr/>
        <p:txBody>
          <a:bodyPr/>
          <a:lstStyle/>
          <a:p>
            <a:fld id="{08AB70BE-1769-45B8-85A6-0C837432C7E6}" type="slidenum">
              <a:rPr lang="en-US" smtClean="0"/>
              <a:pPr/>
              <a:t>1</a:t>
            </a:fld>
            <a:endParaRPr lang="en-US" dirty="0"/>
          </a:p>
        </p:txBody>
      </p:sp>
    </p:spTree>
    <p:extLst>
      <p:ext uri="{BB962C8B-B14F-4D97-AF65-F5344CB8AC3E}">
        <p14:creationId xmlns:p14="http://schemas.microsoft.com/office/powerpoint/2010/main" val="344104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CA4987-5B76-6659-523D-29EC4CD6BC3D}"/>
              </a:ext>
            </a:extLst>
          </p:cNvPr>
          <p:cNvSpPr>
            <a:spLocks noGrp="1"/>
          </p:cNvSpPr>
          <p:nvPr>
            <p:ph type="title"/>
          </p:nvPr>
        </p:nvSpPr>
        <p:spPr/>
        <p:txBody>
          <a:bodyPr/>
          <a:lstStyle/>
          <a:p>
            <a:r>
              <a:rPr lang="en-ZA" b="1" dirty="0"/>
              <a:t>System Description</a:t>
            </a:r>
            <a:br>
              <a:rPr lang="en-ZA" b="1" dirty="0"/>
            </a:br>
            <a:endParaRPr lang="en-ZA" dirty="0"/>
          </a:p>
        </p:txBody>
      </p:sp>
      <p:sp>
        <p:nvSpPr>
          <p:cNvPr id="5" name="Table Placeholder 4">
            <a:extLst>
              <a:ext uri="{FF2B5EF4-FFF2-40B4-BE49-F238E27FC236}">
                <a16:creationId xmlns:a16="http://schemas.microsoft.com/office/drawing/2014/main" id="{19E4EA19-F077-5E7D-70E4-F489513C2AC3}"/>
              </a:ext>
            </a:extLst>
          </p:cNvPr>
          <p:cNvSpPr>
            <a:spLocks noGrp="1"/>
          </p:cNvSpPr>
          <p:nvPr>
            <p:ph type="tbl" sz="quarter" idx="10"/>
          </p:nvPr>
        </p:nvSpPr>
        <p:spPr/>
        <p:txBody>
          <a:bodyPr/>
          <a:lstStyle/>
          <a:p>
            <a:r>
              <a:rPr lang="en-US" dirty="0" err="1"/>
              <a:t>CampusGuard</a:t>
            </a:r>
            <a:r>
              <a:rPr lang="en-US" dirty="0"/>
              <a:t> is an emergency-response coordination platform designed for a large university campus. The system facilitates the efficient and decoupled interaction between various emergency units—including campus security, medical responders, and access control systems—through a central mediator. It manages the lifecycle of incidents via state transitions and standardizes emergency response workflows using predefined template methods and executable commands, ultimately allowing operators to seamlessly trigger, coordinate, and undo critical emergency actions.</a:t>
            </a:r>
            <a:endParaRPr lang="en-ZA" dirty="0"/>
          </a:p>
        </p:txBody>
      </p:sp>
      <p:sp>
        <p:nvSpPr>
          <p:cNvPr id="3" name="Slide Number Placeholder 2">
            <a:extLst>
              <a:ext uri="{FF2B5EF4-FFF2-40B4-BE49-F238E27FC236}">
                <a16:creationId xmlns:a16="http://schemas.microsoft.com/office/drawing/2014/main" id="{4BCBA71F-8DEB-E979-D861-20F5744B4D80}"/>
              </a:ext>
            </a:extLst>
          </p:cNvPr>
          <p:cNvSpPr>
            <a:spLocks noGrp="1"/>
          </p:cNvSpPr>
          <p:nvPr>
            <p:ph type="sldNum" sz="quarter" idx="4"/>
          </p:nvPr>
        </p:nvSpPr>
        <p:spPr/>
        <p:txBody>
          <a:bodyPr/>
          <a:lstStyle/>
          <a:p>
            <a:fld id="{08AB70BE-1769-45B8-85A6-0C837432C7E6}" type="slidenum">
              <a:rPr lang="en-US" smtClean="0"/>
              <a:pPr/>
              <a:t>2</a:t>
            </a:fld>
            <a:endParaRPr lang="en-US" dirty="0"/>
          </a:p>
        </p:txBody>
      </p:sp>
    </p:spTree>
    <p:extLst>
      <p:ext uri="{BB962C8B-B14F-4D97-AF65-F5344CB8AC3E}">
        <p14:creationId xmlns:p14="http://schemas.microsoft.com/office/powerpoint/2010/main" val="3084088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24F7889-A981-CD4C-7093-EEF218D32F82}"/>
              </a:ext>
            </a:extLst>
          </p:cNvPr>
          <p:cNvSpPr>
            <a:spLocks noGrp="1"/>
          </p:cNvSpPr>
          <p:nvPr>
            <p:ph type="title"/>
          </p:nvPr>
        </p:nvSpPr>
        <p:spPr>
          <a:xfrm>
            <a:off x="5339398" y="333286"/>
            <a:ext cx="1513204" cy="481723"/>
          </a:xfrm>
        </p:spPr>
        <p:txBody>
          <a:bodyPr>
            <a:normAutofit fontScale="90000"/>
          </a:bodyPr>
          <a:lstStyle/>
          <a:p>
            <a:r>
              <a:rPr lang="en-US" dirty="0"/>
              <a:t>UML</a:t>
            </a:r>
            <a:endParaRPr lang="en-ZA" dirty="0"/>
          </a:p>
        </p:txBody>
      </p:sp>
      <p:sp>
        <p:nvSpPr>
          <p:cNvPr id="12" name="Content Placeholder 11">
            <a:extLst>
              <a:ext uri="{FF2B5EF4-FFF2-40B4-BE49-F238E27FC236}">
                <a16:creationId xmlns:a16="http://schemas.microsoft.com/office/drawing/2014/main" id="{BC8D1F2F-D35C-7CF3-ADEF-825BFDA4C931}"/>
              </a:ext>
            </a:extLst>
          </p:cNvPr>
          <p:cNvSpPr>
            <a:spLocks noGrp="1"/>
          </p:cNvSpPr>
          <p:nvPr>
            <p:ph idx="1"/>
          </p:nvPr>
        </p:nvSpPr>
        <p:spPr>
          <a:xfrm>
            <a:off x="914400" y="1919673"/>
            <a:ext cx="5400942" cy="2037030"/>
          </a:xfrm>
        </p:spPr>
        <p:txBody>
          <a:bodyPr/>
          <a:lstStyle/>
          <a:p>
            <a:endParaRPr lang="en-ZA" dirty="0"/>
          </a:p>
        </p:txBody>
      </p:sp>
      <p:sp>
        <p:nvSpPr>
          <p:cNvPr id="2" name="Slide Number Placeholder 1">
            <a:extLst>
              <a:ext uri="{FF2B5EF4-FFF2-40B4-BE49-F238E27FC236}">
                <a16:creationId xmlns:a16="http://schemas.microsoft.com/office/drawing/2014/main" id="{5FB5619D-5773-C091-EEB3-158CC40C3DEC}"/>
              </a:ext>
            </a:extLst>
          </p:cNvPr>
          <p:cNvSpPr>
            <a:spLocks noGrp="1"/>
          </p:cNvSpPr>
          <p:nvPr>
            <p:ph type="sldNum" sz="quarter" idx="12"/>
          </p:nvPr>
        </p:nvSpPr>
        <p:spPr/>
        <p:txBody>
          <a:bodyPr/>
          <a:lstStyle/>
          <a:p>
            <a:fld id="{08AB70BE-1769-45B8-85A6-0C837432C7E6}" type="slidenum">
              <a:rPr lang="en-US" smtClean="0"/>
              <a:pPr/>
              <a:t>3</a:t>
            </a:fld>
            <a:endParaRPr lang="en-US" dirty="0"/>
          </a:p>
        </p:txBody>
      </p:sp>
      <p:pic>
        <p:nvPicPr>
          <p:cNvPr id="10" name="Picture 9">
            <a:extLst>
              <a:ext uri="{FF2B5EF4-FFF2-40B4-BE49-F238E27FC236}">
                <a16:creationId xmlns:a16="http://schemas.microsoft.com/office/drawing/2014/main" id="{58CCEBD2-2F7C-41A1-A810-910D7BF2D216}"/>
              </a:ext>
            </a:extLst>
          </p:cNvPr>
          <p:cNvPicPr>
            <a:picLocks noChangeAspect="1"/>
          </p:cNvPicPr>
          <p:nvPr/>
        </p:nvPicPr>
        <p:blipFill>
          <a:blip r:embed="rId2"/>
          <a:stretch>
            <a:fillRect/>
          </a:stretch>
        </p:blipFill>
        <p:spPr>
          <a:xfrm>
            <a:off x="703452" y="960289"/>
            <a:ext cx="10574148" cy="5169720"/>
          </a:xfrm>
          <a:prstGeom prst="rect">
            <a:avLst/>
          </a:prstGeom>
        </p:spPr>
      </p:pic>
    </p:spTree>
    <p:extLst>
      <p:ext uri="{BB962C8B-B14F-4D97-AF65-F5344CB8AC3E}">
        <p14:creationId xmlns:p14="http://schemas.microsoft.com/office/powerpoint/2010/main" val="3715485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0027CB-3C27-FC4C-AEF9-685A21EA1B94}"/>
              </a:ext>
            </a:extLst>
          </p:cNvPr>
          <p:cNvSpPr>
            <a:spLocks noGrp="1"/>
          </p:cNvSpPr>
          <p:nvPr>
            <p:ph type="title"/>
          </p:nvPr>
        </p:nvSpPr>
        <p:spPr/>
        <p:txBody>
          <a:bodyPr/>
          <a:lstStyle/>
          <a:p>
            <a:r>
              <a:rPr lang="en-ZA" b="1" dirty="0" err="1"/>
              <a:t>GoF</a:t>
            </a:r>
            <a:r>
              <a:rPr lang="en-ZA" b="1" dirty="0"/>
              <a:t> Participant Mapping</a:t>
            </a:r>
            <a:br>
              <a:rPr lang="en-ZA" b="1" dirty="0"/>
            </a:br>
            <a:endParaRPr lang="en-US" dirty="0"/>
          </a:p>
        </p:txBody>
      </p:sp>
      <p:sp>
        <p:nvSpPr>
          <p:cNvPr id="4" name="Content Placeholder 3">
            <a:extLst>
              <a:ext uri="{FF2B5EF4-FFF2-40B4-BE49-F238E27FC236}">
                <a16:creationId xmlns:a16="http://schemas.microsoft.com/office/drawing/2014/main" id="{7B25569D-4B51-26CD-C967-65D3F4059DB9}"/>
              </a:ext>
            </a:extLst>
          </p:cNvPr>
          <p:cNvSpPr>
            <a:spLocks noGrp="1"/>
          </p:cNvSpPr>
          <p:nvPr>
            <p:ph sz="quarter" idx="10"/>
          </p:nvPr>
        </p:nvSpPr>
        <p:spPr>
          <a:xfrm>
            <a:off x="1371599" y="2274033"/>
            <a:ext cx="9883211" cy="3853302"/>
          </a:xfrm>
        </p:spPr>
        <p:txBody>
          <a:bodyPr>
            <a:normAutofit fontScale="62500" lnSpcReduction="20000"/>
          </a:bodyPr>
          <a:lstStyle/>
          <a:p>
            <a:pPr marL="0" indent="0">
              <a:buNone/>
            </a:pPr>
            <a:r>
              <a:rPr lang="en-ZA" sz="2600" u="sng" dirty="0"/>
              <a:t>Command</a:t>
            </a:r>
          </a:p>
          <a:p>
            <a:r>
              <a:rPr lang="en-ZA" sz="2600" b="1" dirty="0"/>
              <a:t>Command:</a:t>
            </a:r>
            <a:r>
              <a:rPr lang="en-ZA" sz="2600" dirty="0"/>
              <a:t> Command (Interface)</a:t>
            </a:r>
          </a:p>
          <a:p>
            <a:r>
              <a:rPr lang="en-ZA" sz="2600" b="1" dirty="0" err="1"/>
              <a:t>ConcreteCommand</a:t>
            </a:r>
            <a:r>
              <a:rPr lang="en-ZA" sz="2600" b="1" dirty="0"/>
              <a:t>:</a:t>
            </a:r>
            <a:r>
              <a:rPr lang="en-ZA" sz="2600" dirty="0"/>
              <a:t> </a:t>
            </a:r>
            <a:r>
              <a:rPr lang="en-ZA" sz="2600" dirty="0" err="1"/>
              <a:t>DispatchUnitCommand</a:t>
            </a:r>
            <a:r>
              <a:rPr lang="en-ZA" sz="2600" dirty="0"/>
              <a:t>, </a:t>
            </a:r>
            <a:r>
              <a:rPr lang="en-ZA" sz="2600" dirty="0" err="1"/>
              <a:t>SecureAreaCommand</a:t>
            </a:r>
            <a:r>
              <a:rPr lang="en-ZA" sz="2600" dirty="0"/>
              <a:t>, </a:t>
            </a:r>
            <a:r>
              <a:rPr lang="en-ZA" sz="2600" dirty="0" err="1"/>
              <a:t>IssueAlertCommand</a:t>
            </a:r>
            <a:endParaRPr lang="en-ZA" sz="2600" dirty="0"/>
          </a:p>
          <a:p>
            <a:r>
              <a:rPr lang="en-ZA" sz="2600" b="1" dirty="0"/>
              <a:t>Invoker:</a:t>
            </a:r>
            <a:r>
              <a:rPr lang="en-ZA" sz="2600" dirty="0"/>
              <a:t> </a:t>
            </a:r>
            <a:r>
              <a:rPr lang="en-ZA" sz="2600" dirty="0" err="1"/>
              <a:t>OperatorConsole</a:t>
            </a:r>
            <a:endParaRPr lang="en-ZA" sz="2600" dirty="0"/>
          </a:p>
          <a:p>
            <a:r>
              <a:rPr lang="en-ZA" sz="2600" b="1" dirty="0"/>
              <a:t>Receiver:</a:t>
            </a:r>
            <a:r>
              <a:rPr lang="en-ZA" sz="2600" dirty="0"/>
              <a:t> Various </a:t>
            </a:r>
            <a:r>
              <a:rPr lang="en-ZA" sz="2600" dirty="0" err="1"/>
              <a:t>ResponseComponent</a:t>
            </a:r>
            <a:r>
              <a:rPr lang="en-ZA" sz="2600" dirty="0"/>
              <a:t> subclasses (e.g., </a:t>
            </a:r>
            <a:r>
              <a:rPr lang="en-ZA" sz="2600" dirty="0" err="1"/>
              <a:t>CommunicationService</a:t>
            </a:r>
            <a:r>
              <a:rPr lang="en-ZA" sz="2600" dirty="0"/>
              <a:t>, </a:t>
            </a:r>
            <a:r>
              <a:rPr lang="en-ZA" sz="2600" dirty="0" err="1"/>
              <a:t>AccessControlSystem</a:t>
            </a:r>
            <a:r>
              <a:rPr lang="en-ZA" sz="2600" dirty="0"/>
              <a:t>)</a:t>
            </a:r>
          </a:p>
          <a:p>
            <a:endParaRPr lang="en-ZA" sz="2600" dirty="0"/>
          </a:p>
          <a:p>
            <a:pPr marL="0" indent="0">
              <a:buNone/>
            </a:pPr>
            <a:r>
              <a:rPr lang="en-ZA" sz="2600" u="sng" dirty="0"/>
              <a:t>Mediator</a:t>
            </a:r>
          </a:p>
          <a:p>
            <a:r>
              <a:rPr lang="en-ZA" sz="2600" b="1" dirty="0"/>
              <a:t>Mediator:</a:t>
            </a:r>
            <a:r>
              <a:rPr lang="en-ZA" sz="2600" dirty="0"/>
              <a:t> </a:t>
            </a:r>
            <a:r>
              <a:rPr lang="en-ZA" sz="2600" dirty="0" err="1"/>
              <a:t>EmergencyCoordinator</a:t>
            </a:r>
            <a:endParaRPr lang="en-ZA" sz="2600" dirty="0"/>
          </a:p>
          <a:p>
            <a:r>
              <a:rPr lang="en-ZA" sz="2600" b="1" dirty="0" err="1"/>
              <a:t>ConcreteMediator</a:t>
            </a:r>
            <a:r>
              <a:rPr lang="en-ZA" sz="2600" b="1" dirty="0"/>
              <a:t>:</a:t>
            </a:r>
            <a:r>
              <a:rPr lang="en-ZA" sz="2600" dirty="0"/>
              <a:t> </a:t>
            </a:r>
            <a:r>
              <a:rPr lang="en-ZA" sz="2600" dirty="0" err="1"/>
              <a:t>ConcreteEmergencyCoordinator</a:t>
            </a:r>
            <a:endParaRPr lang="en-ZA" sz="2600" dirty="0"/>
          </a:p>
          <a:p>
            <a:r>
              <a:rPr lang="en-ZA" sz="2600" b="1" dirty="0"/>
              <a:t>Colleague:</a:t>
            </a:r>
            <a:r>
              <a:rPr lang="en-ZA" sz="2600" dirty="0"/>
              <a:t> </a:t>
            </a:r>
            <a:r>
              <a:rPr lang="en-ZA" sz="2600" dirty="0" err="1"/>
              <a:t>ResponseComponent</a:t>
            </a:r>
            <a:endParaRPr lang="en-ZA" sz="2600" dirty="0"/>
          </a:p>
          <a:p>
            <a:r>
              <a:rPr lang="en-ZA" sz="2600" b="1" dirty="0" err="1"/>
              <a:t>ConcreteColleague</a:t>
            </a:r>
            <a:r>
              <a:rPr lang="en-ZA" sz="2600" b="1" dirty="0"/>
              <a:t>:</a:t>
            </a:r>
            <a:r>
              <a:rPr lang="en-ZA" sz="2600" dirty="0"/>
              <a:t> </a:t>
            </a:r>
            <a:r>
              <a:rPr lang="en-ZA" sz="2600" dirty="0" err="1"/>
              <a:t>CommunicationService</a:t>
            </a:r>
            <a:r>
              <a:rPr lang="en-ZA" sz="2600" dirty="0"/>
              <a:t>, </a:t>
            </a:r>
            <a:r>
              <a:rPr lang="en-ZA" sz="2600" dirty="0" err="1"/>
              <a:t>AccessControl</a:t>
            </a:r>
            <a:r>
              <a:rPr lang="en-ZA" sz="2600" dirty="0"/>
              <a:t>, </a:t>
            </a:r>
            <a:r>
              <a:rPr lang="en-ZA" sz="2600" dirty="0" err="1"/>
              <a:t>CampusSecurity</a:t>
            </a:r>
            <a:r>
              <a:rPr lang="en-ZA" sz="2600" dirty="0"/>
              <a:t>, </a:t>
            </a:r>
            <a:r>
              <a:rPr lang="en-ZA" sz="2600" dirty="0" err="1"/>
              <a:t>MedicalResponders</a:t>
            </a:r>
            <a:endParaRPr lang="en-ZA" sz="2600" dirty="0"/>
          </a:p>
          <a:p>
            <a:endParaRPr lang="en-US" dirty="0"/>
          </a:p>
        </p:txBody>
      </p:sp>
      <p:sp>
        <p:nvSpPr>
          <p:cNvPr id="2" name="Slide Number Placeholder 1">
            <a:extLst>
              <a:ext uri="{FF2B5EF4-FFF2-40B4-BE49-F238E27FC236}">
                <a16:creationId xmlns:a16="http://schemas.microsoft.com/office/drawing/2014/main" id="{616BFA23-AB5B-BA88-E233-DE14DED5A297}"/>
              </a:ext>
            </a:extLst>
          </p:cNvPr>
          <p:cNvSpPr>
            <a:spLocks noGrp="1"/>
          </p:cNvSpPr>
          <p:nvPr>
            <p:ph type="sldNum" sz="quarter" idx="4"/>
          </p:nvPr>
        </p:nvSpPr>
        <p:spPr/>
        <p:txBody>
          <a:bodyPr/>
          <a:lstStyle/>
          <a:p>
            <a:fld id="{08AB70BE-1769-45B8-85A6-0C837432C7E6}" type="slidenum">
              <a:rPr lang="en-US" smtClean="0"/>
              <a:pPr/>
              <a:t>4</a:t>
            </a:fld>
            <a:endParaRPr lang="en-US" dirty="0"/>
          </a:p>
        </p:txBody>
      </p:sp>
    </p:spTree>
    <p:extLst>
      <p:ext uri="{BB962C8B-B14F-4D97-AF65-F5344CB8AC3E}">
        <p14:creationId xmlns:p14="http://schemas.microsoft.com/office/powerpoint/2010/main" val="3457628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70B6C-6B59-9BC6-9CD3-E79F72E8CAB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F7F2A8-309E-E82A-C8ED-2F856D6E1752}"/>
              </a:ext>
            </a:extLst>
          </p:cNvPr>
          <p:cNvSpPr>
            <a:spLocks noGrp="1"/>
          </p:cNvSpPr>
          <p:nvPr>
            <p:ph type="title"/>
          </p:nvPr>
        </p:nvSpPr>
        <p:spPr/>
        <p:txBody>
          <a:bodyPr/>
          <a:lstStyle/>
          <a:p>
            <a:r>
              <a:rPr lang="en-ZA" b="1" dirty="0" err="1"/>
              <a:t>GoF</a:t>
            </a:r>
            <a:r>
              <a:rPr lang="en-ZA" b="1" dirty="0"/>
              <a:t> Participant Mapping</a:t>
            </a:r>
            <a:br>
              <a:rPr lang="en-ZA" b="1" dirty="0"/>
            </a:br>
            <a:endParaRPr lang="en-US" dirty="0"/>
          </a:p>
        </p:txBody>
      </p:sp>
      <p:sp>
        <p:nvSpPr>
          <p:cNvPr id="4" name="Content Placeholder 3">
            <a:extLst>
              <a:ext uri="{FF2B5EF4-FFF2-40B4-BE49-F238E27FC236}">
                <a16:creationId xmlns:a16="http://schemas.microsoft.com/office/drawing/2014/main" id="{869E7200-D163-D4A1-13C0-04CCC27F25CD}"/>
              </a:ext>
            </a:extLst>
          </p:cNvPr>
          <p:cNvSpPr>
            <a:spLocks noGrp="1"/>
          </p:cNvSpPr>
          <p:nvPr>
            <p:ph sz="quarter" idx="10"/>
          </p:nvPr>
        </p:nvSpPr>
        <p:spPr/>
        <p:txBody>
          <a:bodyPr>
            <a:normAutofit lnSpcReduction="10000"/>
          </a:bodyPr>
          <a:lstStyle/>
          <a:p>
            <a:pPr marL="0" indent="0">
              <a:buNone/>
            </a:pPr>
            <a:r>
              <a:rPr lang="en-ZA" u="sng" dirty="0"/>
              <a:t>Adapter</a:t>
            </a:r>
          </a:p>
          <a:p>
            <a:r>
              <a:rPr lang="en-ZA" b="1" dirty="0"/>
              <a:t>Target:</a:t>
            </a:r>
            <a:r>
              <a:rPr lang="en-ZA" dirty="0"/>
              <a:t> </a:t>
            </a:r>
            <a:r>
              <a:rPr lang="en-ZA" dirty="0" err="1"/>
              <a:t>AccessControl</a:t>
            </a:r>
            <a:endParaRPr lang="en-ZA" dirty="0"/>
          </a:p>
          <a:p>
            <a:r>
              <a:rPr lang="en-ZA" b="1" dirty="0"/>
              <a:t>Adapter:</a:t>
            </a:r>
            <a:r>
              <a:rPr lang="en-ZA" dirty="0"/>
              <a:t> </a:t>
            </a:r>
            <a:r>
              <a:rPr lang="en-ZA" dirty="0" err="1"/>
              <a:t>AccessControlSystem</a:t>
            </a:r>
            <a:endParaRPr lang="en-ZA" dirty="0"/>
          </a:p>
          <a:p>
            <a:r>
              <a:rPr lang="en-ZA" b="1" dirty="0" err="1"/>
              <a:t>Adaptee</a:t>
            </a:r>
            <a:r>
              <a:rPr lang="en-ZA" b="1" dirty="0"/>
              <a:t>:</a:t>
            </a:r>
            <a:r>
              <a:rPr lang="en-ZA" dirty="0"/>
              <a:t> </a:t>
            </a:r>
            <a:r>
              <a:rPr lang="en-ZA" dirty="0" err="1"/>
              <a:t>LegacyAccessControlSystem</a:t>
            </a:r>
            <a:r>
              <a:rPr lang="en-ZA" dirty="0"/>
              <a:t> (External/Legacy Service)</a:t>
            </a:r>
          </a:p>
          <a:p>
            <a:endParaRPr lang="en-ZA" dirty="0"/>
          </a:p>
          <a:p>
            <a:pPr marL="0" indent="0">
              <a:buNone/>
            </a:pPr>
            <a:r>
              <a:rPr lang="en-ZA" u="sng" dirty="0"/>
              <a:t>Facade</a:t>
            </a:r>
          </a:p>
          <a:p>
            <a:r>
              <a:rPr lang="en-ZA" b="1" dirty="0"/>
              <a:t>Facade:</a:t>
            </a:r>
            <a:r>
              <a:rPr lang="en-ZA" dirty="0"/>
              <a:t> </a:t>
            </a:r>
            <a:r>
              <a:rPr lang="en-ZA" dirty="0" err="1"/>
              <a:t>HandleEmergency</a:t>
            </a:r>
            <a:r>
              <a:rPr lang="en-ZA" dirty="0"/>
              <a:t> (Acts as the high-level entry point orchestrating subsystems)</a:t>
            </a:r>
          </a:p>
          <a:p>
            <a:r>
              <a:rPr lang="en-ZA" b="1" dirty="0"/>
              <a:t>Subsystems:</a:t>
            </a:r>
            <a:r>
              <a:rPr lang="en-ZA" dirty="0"/>
              <a:t> </a:t>
            </a:r>
            <a:r>
              <a:rPr lang="en-ZA" dirty="0" err="1"/>
              <a:t>OperatorConsole</a:t>
            </a:r>
            <a:r>
              <a:rPr lang="en-ZA" dirty="0"/>
              <a:t>, </a:t>
            </a:r>
            <a:r>
              <a:rPr lang="en-ZA" dirty="0" err="1"/>
              <a:t>ConcreteEmergencyCoordinator</a:t>
            </a:r>
            <a:r>
              <a:rPr lang="en-ZA" dirty="0"/>
              <a:t>, and Stages (State context).</a:t>
            </a:r>
          </a:p>
          <a:p>
            <a:endParaRPr lang="en-US" dirty="0"/>
          </a:p>
        </p:txBody>
      </p:sp>
      <p:sp>
        <p:nvSpPr>
          <p:cNvPr id="2" name="Slide Number Placeholder 1">
            <a:extLst>
              <a:ext uri="{FF2B5EF4-FFF2-40B4-BE49-F238E27FC236}">
                <a16:creationId xmlns:a16="http://schemas.microsoft.com/office/drawing/2014/main" id="{03F8DBB1-16B1-3DAD-EA5C-72B7FF51AE1E}"/>
              </a:ext>
            </a:extLst>
          </p:cNvPr>
          <p:cNvSpPr>
            <a:spLocks noGrp="1"/>
          </p:cNvSpPr>
          <p:nvPr>
            <p:ph type="sldNum" sz="quarter" idx="4"/>
          </p:nvPr>
        </p:nvSpPr>
        <p:spPr/>
        <p:txBody>
          <a:bodyPr/>
          <a:lstStyle/>
          <a:p>
            <a:fld id="{08AB70BE-1769-45B8-85A6-0C837432C7E6}" type="slidenum">
              <a:rPr lang="en-US" smtClean="0"/>
              <a:pPr/>
              <a:t>5</a:t>
            </a:fld>
            <a:endParaRPr lang="en-US" dirty="0"/>
          </a:p>
        </p:txBody>
      </p:sp>
    </p:spTree>
    <p:extLst>
      <p:ext uri="{BB962C8B-B14F-4D97-AF65-F5344CB8AC3E}">
        <p14:creationId xmlns:p14="http://schemas.microsoft.com/office/powerpoint/2010/main" val="3618220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EE2A5-53B6-6F10-2F75-4C0BD1489D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137B2CF-0974-CAF3-0F46-A6EA236DDC2C}"/>
              </a:ext>
            </a:extLst>
          </p:cNvPr>
          <p:cNvSpPr>
            <a:spLocks noGrp="1"/>
          </p:cNvSpPr>
          <p:nvPr>
            <p:ph type="title"/>
          </p:nvPr>
        </p:nvSpPr>
        <p:spPr/>
        <p:txBody>
          <a:bodyPr/>
          <a:lstStyle/>
          <a:p>
            <a:r>
              <a:rPr lang="en-ZA" b="1" dirty="0" err="1"/>
              <a:t>GoF</a:t>
            </a:r>
            <a:r>
              <a:rPr lang="en-ZA" b="1" dirty="0"/>
              <a:t> Participant Mapping</a:t>
            </a:r>
            <a:br>
              <a:rPr lang="en-ZA" b="1" dirty="0"/>
            </a:br>
            <a:endParaRPr lang="en-US" dirty="0"/>
          </a:p>
        </p:txBody>
      </p:sp>
      <p:sp>
        <p:nvSpPr>
          <p:cNvPr id="4" name="Content Placeholder 3">
            <a:extLst>
              <a:ext uri="{FF2B5EF4-FFF2-40B4-BE49-F238E27FC236}">
                <a16:creationId xmlns:a16="http://schemas.microsoft.com/office/drawing/2014/main" id="{47CE7A94-A71B-D628-24C9-AD63BE98CDDE}"/>
              </a:ext>
            </a:extLst>
          </p:cNvPr>
          <p:cNvSpPr>
            <a:spLocks noGrp="1"/>
          </p:cNvSpPr>
          <p:nvPr>
            <p:ph sz="quarter" idx="10"/>
          </p:nvPr>
        </p:nvSpPr>
        <p:spPr>
          <a:xfrm>
            <a:off x="1371599" y="2274033"/>
            <a:ext cx="9720841" cy="3709071"/>
          </a:xfrm>
        </p:spPr>
        <p:txBody>
          <a:bodyPr>
            <a:normAutofit fontScale="92500" lnSpcReduction="10000"/>
          </a:bodyPr>
          <a:lstStyle/>
          <a:p>
            <a:pPr marL="0" indent="0">
              <a:buNone/>
            </a:pPr>
            <a:r>
              <a:rPr lang="en-ZA" u="sng" dirty="0"/>
              <a:t>State </a:t>
            </a:r>
          </a:p>
          <a:p>
            <a:r>
              <a:rPr lang="en-ZA" b="1" dirty="0"/>
              <a:t>Context:</a:t>
            </a:r>
            <a:r>
              <a:rPr lang="en-ZA" dirty="0"/>
              <a:t> </a:t>
            </a:r>
            <a:r>
              <a:rPr lang="en-ZA" dirty="0" err="1"/>
              <a:t>CommunicationService</a:t>
            </a:r>
            <a:endParaRPr lang="en-ZA" dirty="0"/>
          </a:p>
          <a:p>
            <a:r>
              <a:rPr lang="en-ZA" b="1" dirty="0"/>
              <a:t>State:</a:t>
            </a:r>
            <a:r>
              <a:rPr lang="en-ZA" dirty="0"/>
              <a:t> Stages</a:t>
            </a:r>
          </a:p>
          <a:p>
            <a:r>
              <a:rPr lang="en-ZA" b="1" dirty="0" err="1"/>
              <a:t>ConcreteState</a:t>
            </a:r>
            <a:r>
              <a:rPr lang="en-ZA" b="1" dirty="0"/>
              <a:t>:</a:t>
            </a:r>
            <a:r>
              <a:rPr lang="en-ZA" dirty="0"/>
              <a:t> Detection, Response, Recovery</a:t>
            </a:r>
          </a:p>
          <a:p>
            <a:pPr marL="0" indent="0">
              <a:buNone/>
            </a:pPr>
            <a:endParaRPr lang="en-ZA" dirty="0"/>
          </a:p>
          <a:p>
            <a:pPr marL="0" indent="0">
              <a:buNone/>
            </a:pPr>
            <a:r>
              <a:rPr lang="en-ZA" u="sng" dirty="0"/>
              <a:t>Template Method </a:t>
            </a:r>
          </a:p>
          <a:p>
            <a:r>
              <a:rPr lang="en-ZA" b="1" dirty="0" err="1"/>
              <a:t>AbstractClass</a:t>
            </a:r>
            <a:r>
              <a:rPr lang="en-ZA" b="1" dirty="0"/>
              <a:t>:</a:t>
            </a:r>
            <a:r>
              <a:rPr lang="en-ZA" dirty="0"/>
              <a:t> </a:t>
            </a:r>
            <a:r>
              <a:rPr lang="en-ZA" dirty="0" err="1"/>
              <a:t>CommunicationService</a:t>
            </a:r>
            <a:endParaRPr lang="en-ZA" dirty="0"/>
          </a:p>
          <a:p>
            <a:r>
              <a:rPr lang="en-ZA" b="1" dirty="0"/>
              <a:t>Template Method:</a:t>
            </a:r>
            <a:r>
              <a:rPr lang="en-ZA" dirty="0"/>
              <a:t> </a:t>
            </a:r>
            <a:r>
              <a:rPr lang="en-ZA" dirty="0" err="1"/>
              <a:t>triggerEvent</a:t>
            </a:r>
            <a:r>
              <a:rPr lang="en-ZA" dirty="0"/>
              <a:t>()</a:t>
            </a:r>
          </a:p>
          <a:p>
            <a:r>
              <a:rPr lang="en-ZA" b="1" dirty="0" err="1"/>
              <a:t>PrimitiveOperations</a:t>
            </a:r>
            <a:r>
              <a:rPr lang="en-ZA" b="1" dirty="0"/>
              <a:t>:</a:t>
            </a:r>
            <a:r>
              <a:rPr lang="en-ZA" dirty="0"/>
              <a:t> </a:t>
            </a:r>
            <a:r>
              <a:rPr lang="en-ZA" dirty="0" err="1"/>
              <a:t>attendIncident</a:t>
            </a:r>
            <a:r>
              <a:rPr lang="en-ZA" dirty="0"/>
              <a:t>(), </a:t>
            </a:r>
            <a:r>
              <a:rPr lang="en-ZA" dirty="0" err="1"/>
              <a:t>leaveScene</a:t>
            </a:r>
            <a:r>
              <a:rPr lang="en-ZA" dirty="0"/>
              <a:t>()</a:t>
            </a:r>
          </a:p>
          <a:p>
            <a:r>
              <a:rPr lang="en-ZA" b="1" dirty="0" err="1"/>
              <a:t>ConcreteClass</a:t>
            </a:r>
            <a:r>
              <a:rPr lang="en-ZA" b="1" dirty="0"/>
              <a:t>:</a:t>
            </a:r>
            <a:r>
              <a:rPr lang="en-ZA" dirty="0"/>
              <a:t> </a:t>
            </a:r>
            <a:r>
              <a:rPr lang="en-ZA" dirty="0" err="1"/>
              <a:t>CampusSecurity</a:t>
            </a:r>
            <a:r>
              <a:rPr lang="en-ZA" dirty="0"/>
              <a:t>, </a:t>
            </a:r>
            <a:r>
              <a:rPr lang="en-ZA" dirty="0" err="1"/>
              <a:t>MedicalResponders</a:t>
            </a:r>
            <a:r>
              <a:rPr lang="en-ZA" dirty="0"/>
              <a:t>, </a:t>
            </a:r>
            <a:r>
              <a:rPr lang="en-ZA" dirty="0" err="1"/>
              <a:t>FacilityStaff</a:t>
            </a:r>
            <a:endParaRPr lang="en-ZA" dirty="0"/>
          </a:p>
          <a:p>
            <a:endParaRPr lang="en-US" dirty="0"/>
          </a:p>
        </p:txBody>
      </p:sp>
      <p:sp>
        <p:nvSpPr>
          <p:cNvPr id="2" name="Slide Number Placeholder 1">
            <a:extLst>
              <a:ext uri="{FF2B5EF4-FFF2-40B4-BE49-F238E27FC236}">
                <a16:creationId xmlns:a16="http://schemas.microsoft.com/office/drawing/2014/main" id="{63481987-AB24-F9B2-DD6C-9396813370FE}"/>
              </a:ext>
            </a:extLst>
          </p:cNvPr>
          <p:cNvSpPr>
            <a:spLocks noGrp="1"/>
          </p:cNvSpPr>
          <p:nvPr>
            <p:ph type="sldNum" sz="quarter" idx="4"/>
          </p:nvPr>
        </p:nvSpPr>
        <p:spPr/>
        <p:txBody>
          <a:bodyPr/>
          <a:lstStyle/>
          <a:p>
            <a:fld id="{08AB70BE-1769-45B8-85A6-0C837432C7E6}" type="slidenum">
              <a:rPr lang="en-US" smtClean="0"/>
              <a:pPr/>
              <a:t>6</a:t>
            </a:fld>
            <a:endParaRPr lang="en-US" dirty="0"/>
          </a:p>
        </p:txBody>
      </p:sp>
    </p:spTree>
    <p:extLst>
      <p:ext uri="{BB962C8B-B14F-4D97-AF65-F5344CB8AC3E}">
        <p14:creationId xmlns:p14="http://schemas.microsoft.com/office/powerpoint/2010/main" val="361778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BA5F4-F9FA-87FD-E8A0-D942EFAD57B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94286D-8AB9-0380-484E-BDBCE54AF21C}"/>
              </a:ext>
            </a:extLst>
          </p:cNvPr>
          <p:cNvSpPr>
            <a:spLocks noGrp="1"/>
          </p:cNvSpPr>
          <p:nvPr>
            <p:ph type="title"/>
          </p:nvPr>
        </p:nvSpPr>
        <p:spPr>
          <a:xfrm>
            <a:off x="1381748" y="246183"/>
            <a:ext cx="10428540" cy="1821899"/>
          </a:xfrm>
        </p:spPr>
        <p:txBody>
          <a:bodyPr>
            <a:normAutofit fontScale="90000"/>
          </a:bodyPr>
          <a:lstStyle/>
          <a:p>
            <a:r>
              <a:rPr lang="en-US" b="1" dirty="0"/>
              <a:t>Justification for the Two Team-Selected Patterns</a:t>
            </a:r>
            <a:br>
              <a:rPr lang="en-US" b="1" dirty="0"/>
            </a:br>
            <a:br>
              <a:rPr lang="en-ZA" b="1" dirty="0"/>
            </a:br>
            <a:endParaRPr lang="en-US" dirty="0"/>
          </a:p>
        </p:txBody>
      </p:sp>
      <p:sp>
        <p:nvSpPr>
          <p:cNvPr id="4" name="Content Placeholder 3">
            <a:extLst>
              <a:ext uri="{FF2B5EF4-FFF2-40B4-BE49-F238E27FC236}">
                <a16:creationId xmlns:a16="http://schemas.microsoft.com/office/drawing/2014/main" id="{60D75F55-C643-D66D-23E2-E386CADD64A6}"/>
              </a:ext>
            </a:extLst>
          </p:cNvPr>
          <p:cNvSpPr>
            <a:spLocks noGrp="1"/>
          </p:cNvSpPr>
          <p:nvPr>
            <p:ph sz="quarter" idx="10"/>
          </p:nvPr>
        </p:nvSpPr>
        <p:spPr>
          <a:xfrm>
            <a:off x="1371599" y="1871529"/>
            <a:ext cx="9720841" cy="4111575"/>
          </a:xfrm>
        </p:spPr>
        <p:txBody>
          <a:bodyPr>
            <a:normAutofit fontScale="85000" lnSpcReduction="10000"/>
          </a:bodyPr>
          <a:lstStyle/>
          <a:p>
            <a:pPr marL="0" indent="0">
              <a:buNone/>
            </a:pPr>
            <a:r>
              <a:rPr lang="en-US" dirty="0"/>
              <a:t>State Pattern</a:t>
            </a:r>
          </a:p>
          <a:p>
            <a:r>
              <a:rPr lang="en-US" b="1" dirty="0"/>
              <a:t>Problem Solved:</a:t>
            </a:r>
            <a:r>
              <a:rPr lang="en-US" dirty="0"/>
              <a:t> The scenario requires registering incidents and dynamically changing their operational status over time. </a:t>
            </a:r>
            <a:r>
              <a:rPr lang="en-US" b="1" dirty="0"/>
              <a:t>Why it's better:</a:t>
            </a:r>
            <a:r>
              <a:rPr lang="en-US" dirty="0"/>
              <a:t> Without State, the </a:t>
            </a:r>
            <a:r>
              <a:rPr lang="en-US" dirty="0" err="1"/>
              <a:t>CommunicationService</a:t>
            </a:r>
            <a:r>
              <a:rPr lang="en-US" dirty="0"/>
              <a:t> would require massive conditional statements (e.g., switch or if/else) to check if the incident is in detection, response, or recovery mode before allowing specific actions. The State pattern encapsulates state-specific behavior, allowing the component's behavior to change cleanly at runtime based on the incident's current operational phase.</a:t>
            </a:r>
          </a:p>
          <a:p>
            <a:endParaRPr lang="en-US" dirty="0"/>
          </a:p>
          <a:p>
            <a:pPr marL="0" indent="0">
              <a:buNone/>
            </a:pPr>
            <a:r>
              <a:rPr lang="en-US" dirty="0"/>
              <a:t>Template Method</a:t>
            </a:r>
          </a:p>
          <a:p>
            <a:r>
              <a:rPr lang="en-US" b="1" dirty="0"/>
              <a:t>Problem Solved:</a:t>
            </a:r>
            <a:r>
              <a:rPr lang="en-US" dirty="0"/>
              <a:t> Different emergency response teams (e.g., Security, Medical, Facilities) have a shared overarching workflow for handling incidents, but the specific implementation details of assessing and attending the scene differ. </a:t>
            </a:r>
            <a:r>
              <a:rPr lang="en-US" b="1" dirty="0"/>
              <a:t>Why it's better:</a:t>
            </a:r>
            <a:r>
              <a:rPr lang="en-US" dirty="0"/>
              <a:t> Instead of having each response unit duplicate the workflow logic, the Template Method enforces a strict sequence of operations (</a:t>
            </a:r>
            <a:r>
              <a:rPr lang="en-US" dirty="0" err="1"/>
              <a:t>attendIncident</a:t>
            </a:r>
            <a:r>
              <a:rPr lang="en-US" dirty="0"/>
              <a:t>(), </a:t>
            </a:r>
            <a:r>
              <a:rPr lang="en-US" dirty="0" err="1"/>
              <a:t>leaveScene</a:t>
            </a:r>
            <a:r>
              <a:rPr lang="en-US" dirty="0"/>
              <a:t>()) in the base </a:t>
            </a:r>
            <a:r>
              <a:rPr lang="en-US" dirty="0" err="1"/>
              <a:t>CommunicationService</a:t>
            </a:r>
            <a:r>
              <a:rPr lang="en-US" dirty="0"/>
              <a:t> via the </a:t>
            </a:r>
            <a:r>
              <a:rPr lang="en-US" dirty="0" err="1"/>
              <a:t>triggerEvent</a:t>
            </a:r>
            <a:r>
              <a:rPr lang="en-US" dirty="0"/>
              <a:t>() method. Subclasses only override the specific steps, reducing code duplication and enforcing a standardized protocol.</a:t>
            </a:r>
          </a:p>
          <a:p>
            <a:endParaRPr lang="en-US" dirty="0"/>
          </a:p>
        </p:txBody>
      </p:sp>
      <p:sp>
        <p:nvSpPr>
          <p:cNvPr id="2" name="Slide Number Placeholder 1">
            <a:extLst>
              <a:ext uri="{FF2B5EF4-FFF2-40B4-BE49-F238E27FC236}">
                <a16:creationId xmlns:a16="http://schemas.microsoft.com/office/drawing/2014/main" id="{83AC5B87-C1B4-3713-1F0C-A43811A0D8DA}"/>
              </a:ext>
            </a:extLst>
          </p:cNvPr>
          <p:cNvSpPr>
            <a:spLocks noGrp="1"/>
          </p:cNvSpPr>
          <p:nvPr>
            <p:ph type="sldNum" sz="quarter" idx="4"/>
          </p:nvPr>
        </p:nvSpPr>
        <p:spPr/>
        <p:txBody>
          <a:bodyPr/>
          <a:lstStyle/>
          <a:p>
            <a:fld id="{08AB70BE-1769-45B8-85A6-0C837432C7E6}" type="slidenum">
              <a:rPr lang="en-US" smtClean="0"/>
              <a:pPr/>
              <a:t>7</a:t>
            </a:fld>
            <a:endParaRPr lang="en-US" dirty="0"/>
          </a:p>
        </p:txBody>
      </p:sp>
    </p:spTree>
    <p:extLst>
      <p:ext uri="{BB962C8B-B14F-4D97-AF65-F5344CB8AC3E}">
        <p14:creationId xmlns:p14="http://schemas.microsoft.com/office/powerpoint/2010/main" val="887405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5AF8-3B31-995E-1CAD-C75BD6CCDADC}"/>
              </a:ext>
            </a:extLst>
          </p:cNvPr>
          <p:cNvSpPr>
            <a:spLocks noGrp="1"/>
          </p:cNvSpPr>
          <p:nvPr>
            <p:ph type="title"/>
          </p:nvPr>
        </p:nvSpPr>
        <p:spPr/>
        <p:txBody>
          <a:bodyPr/>
          <a:lstStyle/>
          <a:p>
            <a:r>
              <a:rPr lang="en-ZA" b="1" dirty="0"/>
              <a:t>Behavioural Diagrams</a:t>
            </a:r>
            <a:br>
              <a:rPr lang="en-ZA" b="1" dirty="0"/>
            </a:br>
            <a:endParaRPr lang="en-ZA" dirty="0"/>
          </a:p>
        </p:txBody>
      </p:sp>
      <p:sp>
        <p:nvSpPr>
          <p:cNvPr id="3" name="Content Placeholder 2">
            <a:extLst>
              <a:ext uri="{FF2B5EF4-FFF2-40B4-BE49-F238E27FC236}">
                <a16:creationId xmlns:a16="http://schemas.microsoft.com/office/drawing/2014/main" id="{DA35AE32-61E9-0333-B11E-EA46D9A785B9}"/>
              </a:ext>
            </a:extLst>
          </p:cNvPr>
          <p:cNvSpPr>
            <a:spLocks noGrp="1"/>
          </p:cNvSpPr>
          <p:nvPr>
            <p:ph sz="quarter" idx="10"/>
          </p:nvPr>
        </p:nvSpPr>
        <p:spPr/>
        <p:txBody>
          <a:bodyPr/>
          <a:lstStyle/>
          <a:p>
            <a:endParaRPr lang="en-ZA" dirty="0"/>
          </a:p>
        </p:txBody>
      </p:sp>
      <p:sp>
        <p:nvSpPr>
          <p:cNvPr id="4" name="Slide Number Placeholder 3">
            <a:extLst>
              <a:ext uri="{FF2B5EF4-FFF2-40B4-BE49-F238E27FC236}">
                <a16:creationId xmlns:a16="http://schemas.microsoft.com/office/drawing/2014/main" id="{E10E1063-2E92-4FF6-A39B-E6DE4584D4AD}"/>
              </a:ext>
            </a:extLst>
          </p:cNvPr>
          <p:cNvSpPr>
            <a:spLocks noGrp="1"/>
          </p:cNvSpPr>
          <p:nvPr>
            <p:ph type="sldNum" sz="quarter" idx="4"/>
          </p:nvPr>
        </p:nvSpPr>
        <p:spPr/>
        <p:txBody>
          <a:bodyPr/>
          <a:lstStyle/>
          <a:p>
            <a:fld id="{08AB70BE-1769-45B8-85A6-0C837432C7E6}" type="slidenum">
              <a:rPr lang="en-US" smtClean="0"/>
              <a:pPr/>
              <a:t>8</a:t>
            </a:fld>
            <a:endParaRPr lang="en-US" dirty="0"/>
          </a:p>
        </p:txBody>
      </p:sp>
    </p:spTree>
    <p:extLst>
      <p:ext uri="{BB962C8B-B14F-4D97-AF65-F5344CB8AC3E}">
        <p14:creationId xmlns:p14="http://schemas.microsoft.com/office/powerpoint/2010/main" val="20098058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E0C83-CF06-E9F1-4888-C630A0F20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A139B3-FE13-BA5C-7C6B-B34C01E4450A}"/>
              </a:ext>
            </a:extLst>
          </p:cNvPr>
          <p:cNvSpPr>
            <a:spLocks noGrp="1"/>
          </p:cNvSpPr>
          <p:nvPr>
            <p:ph type="title"/>
          </p:nvPr>
        </p:nvSpPr>
        <p:spPr/>
        <p:txBody>
          <a:bodyPr/>
          <a:lstStyle/>
          <a:p>
            <a:r>
              <a:rPr lang="en-ZA" b="1" dirty="0"/>
              <a:t>Behavioural Diagrams</a:t>
            </a:r>
            <a:br>
              <a:rPr lang="en-ZA" b="1" dirty="0"/>
            </a:br>
            <a:endParaRPr lang="en-ZA" dirty="0"/>
          </a:p>
        </p:txBody>
      </p:sp>
      <p:sp>
        <p:nvSpPr>
          <p:cNvPr id="3" name="Content Placeholder 2">
            <a:extLst>
              <a:ext uri="{FF2B5EF4-FFF2-40B4-BE49-F238E27FC236}">
                <a16:creationId xmlns:a16="http://schemas.microsoft.com/office/drawing/2014/main" id="{F16E0D52-38CE-08A2-BF70-9AF9114D432E}"/>
              </a:ext>
            </a:extLst>
          </p:cNvPr>
          <p:cNvSpPr>
            <a:spLocks noGrp="1"/>
          </p:cNvSpPr>
          <p:nvPr>
            <p:ph sz="quarter" idx="10"/>
          </p:nvPr>
        </p:nvSpPr>
        <p:spPr/>
        <p:txBody>
          <a:bodyPr/>
          <a:lstStyle/>
          <a:p>
            <a:endParaRPr lang="en-ZA" dirty="0"/>
          </a:p>
        </p:txBody>
      </p:sp>
      <p:sp>
        <p:nvSpPr>
          <p:cNvPr id="4" name="Slide Number Placeholder 3">
            <a:extLst>
              <a:ext uri="{FF2B5EF4-FFF2-40B4-BE49-F238E27FC236}">
                <a16:creationId xmlns:a16="http://schemas.microsoft.com/office/drawing/2014/main" id="{BD50DA59-E580-7BD3-0F9C-596CDCBB6F2C}"/>
              </a:ext>
            </a:extLst>
          </p:cNvPr>
          <p:cNvSpPr>
            <a:spLocks noGrp="1"/>
          </p:cNvSpPr>
          <p:nvPr>
            <p:ph type="sldNum" sz="quarter" idx="4"/>
          </p:nvPr>
        </p:nvSpPr>
        <p:spPr/>
        <p:txBody>
          <a:bodyPr/>
          <a:lstStyle/>
          <a:p>
            <a:fld id="{08AB70BE-1769-45B8-85A6-0C837432C7E6}" type="slidenum">
              <a:rPr lang="en-US" smtClean="0"/>
              <a:pPr/>
              <a:t>9</a:t>
            </a:fld>
            <a:endParaRPr lang="en-US" dirty="0"/>
          </a:p>
        </p:txBody>
      </p:sp>
    </p:spTree>
    <p:extLst>
      <p:ext uri="{BB962C8B-B14F-4D97-AF65-F5344CB8AC3E}">
        <p14:creationId xmlns:p14="http://schemas.microsoft.com/office/powerpoint/2010/main" val="393487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01E18-5B2E-7173-770A-3DB625650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7D439-A566-9A63-BE0E-BC45346738A0}"/>
              </a:ext>
            </a:extLst>
          </p:cNvPr>
          <p:cNvSpPr>
            <a:spLocks noGrp="1"/>
          </p:cNvSpPr>
          <p:nvPr>
            <p:ph type="title"/>
          </p:nvPr>
        </p:nvSpPr>
        <p:spPr/>
        <p:txBody>
          <a:bodyPr/>
          <a:lstStyle/>
          <a:p>
            <a:r>
              <a:rPr lang="en-ZA" b="1" dirty="0"/>
              <a:t>Behavioural Diagrams</a:t>
            </a:r>
            <a:br>
              <a:rPr lang="en-ZA" b="1" dirty="0"/>
            </a:br>
            <a:endParaRPr lang="en-ZA" dirty="0"/>
          </a:p>
        </p:txBody>
      </p:sp>
      <p:sp>
        <p:nvSpPr>
          <p:cNvPr id="3" name="Content Placeholder 2">
            <a:extLst>
              <a:ext uri="{FF2B5EF4-FFF2-40B4-BE49-F238E27FC236}">
                <a16:creationId xmlns:a16="http://schemas.microsoft.com/office/drawing/2014/main" id="{89CA08C1-5B58-2742-1CD1-C3538FC4E9D6}"/>
              </a:ext>
            </a:extLst>
          </p:cNvPr>
          <p:cNvSpPr>
            <a:spLocks noGrp="1"/>
          </p:cNvSpPr>
          <p:nvPr>
            <p:ph sz="quarter" idx="10"/>
          </p:nvPr>
        </p:nvSpPr>
        <p:spPr/>
        <p:txBody>
          <a:bodyPr/>
          <a:lstStyle/>
          <a:p>
            <a:endParaRPr lang="en-ZA" dirty="0"/>
          </a:p>
        </p:txBody>
      </p:sp>
      <p:sp>
        <p:nvSpPr>
          <p:cNvPr id="4" name="Slide Number Placeholder 3">
            <a:extLst>
              <a:ext uri="{FF2B5EF4-FFF2-40B4-BE49-F238E27FC236}">
                <a16:creationId xmlns:a16="http://schemas.microsoft.com/office/drawing/2014/main" id="{0AB7417E-DF33-06FB-E7D5-5EC02B9D8F65}"/>
              </a:ext>
            </a:extLst>
          </p:cNvPr>
          <p:cNvSpPr>
            <a:spLocks noGrp="1"/>
          </p:cNvSpPr>
          <p:nvPr>
            <p:ph type="sldNum" sz="quarter" idx="4"/>
          </p:nvPr>
        </p:nvSpPr>
        <p:spPr/>
        <p:txBody>
          <a:bodyPr/>
          <a:lstStyle/>
          <a:p>
            <a:fld id="{08AB70BE-1769-45B8-85A6-0C837432C7E6}" type="slidenum">
              <a:rPr lang="en-US" smtClean="0"/>
              <a:pPr/>
              <a:t>10</a:t>
            </a:fld>
            <a:endParaRPr lang="en-US" dirty="0"/>
          </a:p>
        </p:txBody>
      </p:sp>
    </p:spTree>
    <p:extLst>
      <p:ext uri="{BB962C8B-B14F-4D97-AF65-F5344CB8AC3E}">
        <p14:creationId xmlns:p14="http://schemas.microsoft.com/office/powerpoint/2010/main" val="1073742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D8E9B-B306-A80E-7112-70A308B387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634C4-1142-DACB-9E3C-E0F6CCF1EAC5}"/>
              </a:ext>
            </a:extLst>
          </p:cNvPr>
          <p:cNvSpPr>
            <a:spLocks noGrp="1"/>
          </p:cNvSpPr>
          <p:nvPr>
            <p:ph type="title"/>
          </p:nvPr>
        </p:nvSpPr>
        <p:spPr/>
        <p:txBody>
          <a:bodyPr/>
          <a:lstStyle/>
          <a:p>
            <a:r>
              <a:rPr lang="en-ZA" b="1" dirty="0"/>
              <a:t>Design and Ownership Rationale</a:t>
            </a:r>
            <a:br>
              <a:rPr lang="en-ZA" b="1" dirty="0"/>
            </a:br>
            <a:br>
              <a:rPr lang="en-ZA" b="1" dirty="0"/>
            </a:br>
            <a:endParaRPr lang="en-ZA" dirty="0"/>
          </a:p>
        </p:txBody>
      </p:sp>
      <p:sp>
        <p:nvSpPr>
          <p:cNvPr id="3" name="Content Placeholder 2">
            <a:extLst>
              <a:ext uri="{FF2B5EF4-FFF2-40B4-BE49-F238E27FC236}">
                <a16:creationId xmlns:a16="http://schemas.microsoft.com/office/drawing/2014/main" id="{0499B24F-B474-4A9D-439C-CF4D22B23C10}"/>
              </a:ext>
            </a:extLst>
          </p:cNvPr>
          <p:cNvSpPr>
            <a:spLocks noGrp="1"/>
          </p:cNvSpPr>
          <p:nvPr>
            <p:ph sz="quarter" idx="10"/>
          </p:nvPr>
        </p:nvSpPr>
        <p:spPr>
          <a:xfrm>
            <a:off x="1371600" y="2274033"/>
            <a:ext cx="9772116" cy="3709071"/>
          </a:xfrm>
        </p:spPr>
        <p:txBody>
          <a:bodyPr>
            <a:normAutofit fontScale="92500" lnSpcReduction="20000"/>
          </a:bodyPr>
          <a:lstStyle/>
          <a:p>
            <a:r>
              <a:rPr lang="en-US" b="1" dirty="0"/>
              <a:t>Decoupling via Mediator:</a:t>
            </a:r>
            <a:r>
              <a:rPr lang="en-US" dirty="0"/>
              <a:t> Direct dependencies between response units are eliminated by forcing all cross-component communication through the </a:t>
            </a:r>
            <a:r>
              <a:rPr lang="en-US" dirty="0" err="1"/>
              <a:t>ConcreteEmergencyCoordinator</a:t>
            </a:r>
            <a:r>
              <a:rPr lang="en-US" dirty="0"/>
              <a:t>.</a:t>
            </a:r>
          </a:p>
          <a:p>
            <a:endParaRPr lang="en-US" dirty="0"/>
          </a:p>
          <a:p>
            <a:r>
              <a:rPr lang="en-US" b="1" dirty="0"/>
              <a:t>Command Encapsulation:</a:t>
            </a:r>
            <a:r>
              <a:rPr lang="en-US" dirty="0"/>
              <a:t> Actions are decoupled from execution. The </a:t>
            </a:r>
            <a:r>
              <a:rPr lang="en-US" dirty="0" err="1"/>
              <a:t>OperatorConsole</a:t>
            </a:r>
            <a:r>
              <a:rPr lang="en-US" dirty="0"/>
              <a:t> dynamically manages a history of commands, making undo() operations trivial without needing to know the specifics of the </a:t>
            </a:r>
            <a:r>
              <a:rPr lang="en-US" dirty="0" err="1"/>
              <a:t>ResponseComponent</a:t>
            </a:r>
            <a:r>
              <a:rPr lang="en-US" dirty="0"/>
              <a:t>.</a:t>
            </a:r>
          </a:p>
          <a:p>
            <a:endParaRPr lang="en-US" dirty="0"/>
          </a:p>
          <a:p>
            <a:r>
              <a:rPr lang="en-US" b="1" dirty="0"/>
              <a:t>Memory Management &amp; Ownership:</a:t>
            </a:r>
            <a:r>
              <a:rPr lang="en-US" dirty="0"/>
              <a:t> All polymorphic base classes define virtual destructors to prevent resource leaks during deletion. The Mediator maintains non-owning pointers to Colleagues, while the </a:t>
            </a:r>
            <a:r>
              <a:rPr lang="en-US" dirty="0" err="1"/>
              <a:t>OperatorConsole</a:t>
            </a:r>
            <a:r>
              <a:rPr lang="en-US" dirty="0"/>
              <a:t> owns the Command objects dynamically allocated to its history list. std::</a:t>
            </a:r>
            <a:r>
              <a:rPr lang="en-US" dirty="0" err="1"/>
              <a:t>unique_ptr</a:t>
            </a:r>
            <a:r>
              <a:rPr lang="en-US" dirty="0"/>
              <a:t> is utilized to strictly own the Stages (State pattern) within the </a:t>
            </a:r>
            <a:r>
              <a:rPr lang="en-US" dirty="0" err="1"/>
              <a:t>CommunicationService</a:t>
            </a:r>
            <a:r>
              <a:rPr lang="en-US" dirty="0"/>
              <a:t>, ensuring clean and deterministic memory cleanup.</a:t>
            </a:r>
          </a:p>
          <a:p>
            <a:endParaRPr lang="en-ZA" dirty="0"/>
          </a:p>
        </p:txBody>
      </p:sp>
      <p:sp>
        <p:nvSpPr>
          <p:cNvPr id="4" name="Slide Number Placeholder 3">
            <a:extLst>
              <a:ext uri="{FF2B5EF4-FFF2-40B4-BE49-F238E27FC236}">
                <a16:creationId xmlns:a16="http://schemas.microsoft.com/office/drawing/2014/main" id="{DF7564D5-60BD-234F-8A3C-5A66F377FF60}"/>
              </a:ext>
            </a:extLst>
          </p:cNvPr>
          <p:cNvSpPr>
            <a:spLocks noGrp="1"/>
          </p:cNvSpPr>
          <p:nvPr>
            <p:ph type="sldNum" sz="quarter" idx="4"/>
          </p:nvPr>
        </p:nvSpPr>
        <p:spPr/>
        <p:txBody>
          <a:bodyPr/>
          <a:lstStyle/>
          <a:p>
            <a:fld id="{08AB70BE-1769-45B8-85A6-0C837432C7E6}" type="slidenum">
              <a:rPr lang="en-US" smtClean="0"/>
              <a:pPr/>
              <a:t>11</a:t>
            </a:fld>
            <a:endParaRPr lang="en-US" dirty="0"/>
          </a:p>
        </p:txBody>
      </p:sp>
    </p:spTree>
    <p:extLst>
      <p:ext uri="{BB962C8B-B14F-4D97-AF65-F5344CB8AC3E}">
        <p14:creationId xmlns:p14="http://schemas.microsoft.com/office/powerpoint/2010/main" val="840781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B7800-8307-D823-3E1F-5A2769AFD5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F64E8-F4F4-2E0C-F5B1-C18B078B0A53}"/>
              </a:ext>
            </a:extLst>
          </p:cNvPr>
          <p:cNvSpPr>
            <a:spLocks noGrp="1"/>
          </p:cNvSpPr>
          <p:nvPr>
            <p:ph type="title"/>
          </p:nvPr>
        </p:nvSpPr>
        <p:spPr/>
        <p:txBody>
          <a:bodyPr>
            <a:normAutofit fontScale="90000"/>
          </a:bodyPr>
          <a:lstStyle/>
          <a:p>
            <a:r>
              <a:rPr lang="en-US" b="1" dirty="0"/>
              <a:t>GDB Investigation</a:t>
            </a:r>
            <a:br>
              <a:rPr lang="en-US" b="1" dirty="0"/>
            </a:br>
            <a:br>
              <a:rPr lang="en-ZA" b="1" dirty="0"/>
            </a:br>
            <a:br>
              <a:rPr lang="en-ZA" b="1" dirty="0"/>
            </a:br>
            <a:endParaRPr lang="en-ZA" dirty="0"/>
          </a:p>
        </p:txBody>
      </p:sp>
      <p:pic>
        <p:nvPicPr>
          <p:cNvPr id="14" name="Content Placeholder 13">
            <a:extLst>
              <a:ext uri="{FF2B5EF4-FFF2-40B4-BE49-F238E27FC236}">
                <a16:creationId xmlns:a16="http://schemas.microsoft.com/office/drawing/2014/main" id="{00681F66-D591-9992-B835-5243AD3BDC22}"/>
              </a:ext>
            </a:extLst>
          </p:cNvPr>
          <p:cNvPicPr>
            <a:picLocks noGrp="1" noChangeAspect="1"/>
          </p:cNvPicPr>
          <p:nvPr>
            <p:ph sz="quarter" idx="10"/>
          </p:nvPr>
        </p:nvPicPr>
        <p:blipFill>
          <a:blip r:embed="rId2"/>
          <a:stretch>
            <a:fillRect/>
          </a:stretch>
        </p:blipFill>
        <p:spPr>
          <a:xfrm>
            <a:off x="1381748" y="1701292"/>
            <a:ext cx="3949903" cy="3429175"/>
          </a:xfrm>
          <a:prstGeom prst="rect">
            <a:avLst/>
          </a:prstGeom>
        </p:spPr>
      </p:pic>
      <p:sp>
        <p:nvSpPr>
          <p:cNvPr id="4" name="Slide Number Placeholder 3">
            <a:extLst>
              <a:ext uri="{FF2B5EF4-FFF2-40B4-BE49-F238E27FC236}">
                <a16:creationId xmlns:a16="http://schemas.microsoft.com/office/drawing/2014/main" id="{656DC7B9-D879-6F34-FE98-5062C083C513}"/>
              </a:ext>
            </a:extLst>
          </p:cNvPr>
          <p:cNvSpPr>
            <a:spLocks noGrp="1"/>
          </p:cNvSpPr>
          <p:nvPr>
            <p:ph type="sldNum" sz="quarter" idx="4"/>
          </p:nvPr>
        </p:nvSpPr>
        <p:spPr/>
        <p:txBody>
          <a:bodyPr/>
          <a:lstStyle/>
          <a:p>
            <a:fld id="{08AB70BE-1769-45B8-85A6-0C837432C7E6}" type="slidenum">
              <a:rPr lang="en-US" smtClean="0"/>
              <a:pPr/>
              <a:t>12</a:t>
            </a:fld>
            <a:endParaRPr lang="en-US" dirty="0"/>
          </a:p>
        </p:txBody>
      </p:sp>
      <p:pic>
        <p:nvPicPr>
          <p:cNvPr id="16" name="Picture 15">
            <a:extLst>
              <a:ext uri="{FF2B5EF4-FFF2-40B4-BE49-F238E27FC236}">
                <a16:creationId xmlns:a16="http://schemas.microsoft.com/office/drawing/2014/main" id="{66BDFFC3-6A1D-70BB-992F-AC82059D708F}"/>
              </a:ext>
            </a:extLst>
          </p:cNvPr>
          <p:cNvPicPr>
            <a:picLocks noChangeAspect="1"/>
          </p:cNvPicPr>
          <p:nvPr/>
        </p:nvPicPr>
        <p:blipFill>
          <a:blip r:embed="rId3"/>
          <a:stretch>
            <a:fillRect/>
          </a:stretch>
        </p:blipFill>
        <p:spPr>
          <a:xfrm>
            <a:off x="5665063" y="1701293"/>
            <a:ext cx="4502381" cy="3429176"/>
          </a:xfrm>
          <a:prstGeom prst="rect">
            <a:avLst/>
          </a:prstGeom>
        </p:spPr>
      </p:pic>
    </p:spTree>
    <p:extLst>
      <p:ext uri="{BB962C8B-B14F-4D97-AF65-F5344CB8AC3E}">
        <p14:creationId xmlns:p14="http://schemas.microsoft.com/office/powerpoint/2010/main" val="1250662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93DBF-DBC7-6E68-7263-9D18F96BC5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38E66-BFE1-85FE-75DC-6F3DAC28AAF8}"/>
              </a:ext>
            </a:extLst>
          </p:cNvPr>
          <p:cNvSpPr>
            <a:spLocks noGrp="1"/>
          </p:cNvSpPr>
          <p:nvPr>
            <p:ph type="title"/>
          </p:nvPr>
        </p:nvSpPr>
        <p:spPr/>
        <p:txBody>
          <a:bodyPr>
            <a:normAutofit fontScale="90000"/>
          </a:bodyPr>
          <a:lstStyle/>
          <a:p>
            <a:r>
              <a:rPr lang="en-US" b="1" dirty="0"/>
              <a:t>GDB Investigation</a:t>
            </a:r>
            <a:br>
              <a:rPr lang="en-US" b="1" dirty="0"/>
            </a:br>
            <a:br>
              <a:rPr lang="en-ZA" b="1" dirty="0"/>
            </a:br>
            <a:br>
              <a:rPr lang="en-ZA" b="1" dirty="0"/>
            </a:br>
            <a:endParaRPr lang="en-ZA" dirty="0"/>
          </a:p>
        </p:txBody>
      </p:sp>
      <p:pic>
        <p:nvPicPr>
          <p:cNvPr id="14" name="Content Placeholder 13">
            <a:extLst>
              <a:ext uri="{FF2B5EF4-FFF2-40B4-BE49-F238E27FC236}">
                <a16:creationId xmlns:a16="http://schemas.microsoft.com/office/drawing/2014/main" id="{EB74D0EC-AFC3-6694-6F9F-CF3A570953F6}"/>
              </a:ext>
            </a:extLst>
          </p:cNvPr>
          <p:cNvPicPr>
            <a:picLocks noGrp="1" noChangeAspect="1"/>
          </p:cNvPicPr>
          <p:nvPr>
            <p:ph sz="quarter" idx="10"/>
          </p:nvPr>
        </p:nvPicPr>
        <p:blipFill>
          <a:blip r:embed="rId2"/>
          <a:srcRect/>
          <a:stretch/>
        </p:blipFill>
        <p:spPr>
          <a:xfrm>
            <a:off x="1381748" y="1701292"/>
            <a:ext cx="3949903" cy="3429175"/>
          </a:xfrm>
          <a:prstGeom prst="rect">
            <a:avLst/>
          </a:prstGeom>
        </p:spPr>
      </p:pic>
      <p:sp>
        <p:nvSpPr>
          <p:cNvPr id="4" name="Slide Number Placeholder 3">
            <a:extLst>
              <a:ext uri="{FF2B5EF4-FFF2-40B4-BE49-F238E27FC236}">
                <a16:creationId xmlns:a16="http://schemas.microsoft.com/office/drawing/2014/main" id="{4BE28867-AF3C-9AB4-6CFB-FD4DC5D46B31}"/>
              </a:ext>
            </a:extLst>
          </p:cNvPr>
          <p:cNvSpPr>
            <a:spLocks noGrp="1"/>
          </p:cNvSpPr>
          <p:nvPr>
            <p:ph type="sldNum" sz="quarter" idx="4"/>
          </p:nvPr>
        </p:nvSpPr>
        <p:spPr/>
        <p:txBody>
          <a:bodyPr/>
          <a:lstStyle/>
          <a:p>
            <a:fld id="{08AB70BE-1769-45B8-85A6-0C837432C7E6}" type="slidenum">
              <a:rPr lang="en-US" smtClean="0"/>
              <a:pPr/>
              <a:t>13</a:t>
            </a:fld>
            <a:endParaRPr lang="en-US" dirty="0"/>
          </a:p>
        </p:txBody>
      </p:sp>
      <p:pic>
        <p:nvPicPr>
          <p:cNvPr id="16" name="Picture 15">
            <a:extLst>
              <a:ext uri="{FF2B5EF4-FFF2-40B4-BE49-F238E27FC236}">
                <a16:creationId xmlns:a16="http://schemas.microsoft.com/office/drawing/2014/main" id="{C4277EF0-C482-5269-61E4-F9969054F98E}"/>
              </a:ext>
            </a:extLst>
          </p:cNvPr>
          <p:cNvPicPr>
            <a:picLocks noChangeAspect="1"/>
          </p:cNvPicPr>
          <p:nvPr/>
        </p:nvPicPr>
        <p:blipFill>
          <a:blip r:embed="rId3"/>
          <a:srcRect/>
          <a:stretch/>
        </p:blipFill>
        <p:spPr>
          <a:xfrm>
            <a:off x="6148773" y="1701293"/>
            <a:ext cx="3534960" cy="3429176"/>
          </a:xfrm>
          <a:prstGeom prst="rect">
            <a:avLst/>
          </a:prstGeom>
        </p:spPr>
      </p:pic>
    </p:spTree>
    <p:extLst>
      <p:ext uri="{BB962C8B-B14F-4D97-AF65-F5344CB8AC3E}">
        <p14:creationId xmlns:p14="http://schemas.microsoft.com/office/powerpoint/2010/main" val="37959321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B697A-C7EB-A25E-AC76-F13B1FF3A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6754E-4587-10EE-0B6E-F5ECD39473F8}"/>
              </a:ext>
            </a:extLst>
          </p:cNvPr>
          <p:cNvSpPr>
            <a:spLocks noGrp="1"/>
          </p:cNvSpPr>
          <p:nvPr>
            <p:ph type="title"/>
          </p:nvPr>
        </p:nvSpPr>
        <p:spPr/>
        <p:txBody>
          <a:bodyPr>
            <a:normAutofit fontScale="90000"/>
          </a:bodyPr>
          <a:lstStyle/>
          <a:p>
            <a:r>
              <a:rPr lang="en-ZA" b="1" dirty="0" err="1"/>
              <a:t>Valgrind</a:t>
            </a:r>
            <a:r>
              <a:rPr lang="en-ZA" b="1" dirty="0"/>
              <a:t> Evidence</a:t>
            </a:r>
            <a:br>
              <a:rPr lang="en-ZA" b="1" dirty="0"/>
            </a:br>
            <a:br>
              <a:rPr lang="en-US" dirty="0"/>
            </a:br>
            <a:r>
              <a:rPr lang="en-US" dirty="0"/>
              <a:t>     Before                      vs               After</a:t>
            </a:r>
            <a:br>
              <a:rPr lang="en-ZA" dirty="0"/>
            </a:br>
            <a:br>
              <a:rPr lang="en-ZA" b="1" dirty="0"/>
            </a:br>
            <a:endParaRPr lang="en-ZA" dirty="0"/>
          </a:p>
        </p:txBody>
      </p:sp>
      <p:pic>
        <p:nvPicPr>
          <p:cNvPr id="14" name="Content Placeholder 13">
            <a:extLst>
              <a:ext uri="{FF2B5EF4-FFF2-40B4-BE49-F238E27FC236}">
                <a16:creationId xmlns:a16="http://schemas.microsoft.com/office/drawing/2014/main" id="{D1ACAE31-18B1-4FE5-D53C-5030AF30FD5A}"/>
              </a:ext>
            </a:extLst>
          </p:cNvPr>
          <p:cNvPicPr>
            <a:picLocks noGrp="1" noChangeAspect="1"/>
          </p:cNvPicPr>
          <p:nvPr>
            <p:ph sz="quarter" idx="10"/>
          </p:nvPr>
        </p:nvPicPr>
        <p:blipFill>
          <a:blip r:embed="rId2"/>
          <a:srcRect/>
          <a:stretch/>
        </p:blipFill>
        <p:spPr>
          <a:xfrm>
            <a:off x="1381748" y="1701292"/>
            <a:ext cx="3949903" cy="3429175"/>
          </a:xfrm>
          <a:prstGeom prst="rect">
            <a:avLst/>
          </a:prstGeom>
        </p:spPr>
      </p:pic>
      <p:sp>
        <p:nvSpPr>
          <p:cNvPr id="4" name="Slide Number Placeholder 3">
            <a:extLst>
              <a:ext uri="{FF2B5EF4-FFF2-40B4-BE49-F238E27FC236}">
                <a16:creationId xmlns:a16="http://schemas.microsoft.com/office/drawing/2014/main" id="{F9252913-221A-F2BF-6FAE-55A7991B53CD}"/>
              </a:ext>
            </a:extLst>
          </p:cNvPr>
          <p:cNvSpPr>
            <a:spLocks noGrp="1"/>
          </p:cNvSpPr>
          <p:nvPr>
            <p:ph type="sldNum" sz="quarter" idx="4"/>
          </p:nvPr>
        </p:nvSpPr>
        <p:spPr/>
        <p:txBody>
          <a:bodyPr/>
          <a:lstStyle/>
          <a:p>
            <a:fld id="{08AB70BE-1769-45B8-85A6-0C837432C7E6}" type="slidenum">
              <a:rPr lang="en-US" smtClean="0"/>
              <a:pPr/>
              <a:t>14</a:t>
            </a:fld>
            <a:endParaRPr lang="en-US" dirty="0"/>
          </a:p>
        </p:txBody>
      </p:sp>
      <p:pic>
        <p:nvPicPr>
          <p:cNvPr id="16" name="Picture 15">
            <a:extLst>
              <a:ext uri="{FF2B5EF4-FFF2-40B4-BE49-F238E27FC236}">
                <a16:creationId xmlns:a16="http://schemas.microsoft.com/office/drawing/2014/main" id="{469E3293-EE43-F271-1C20-BE9774939146}"/>
              </a:ext>
            </a:extLst>
          </p:cNvPr>
          <p:cNvPicPr>
            <a:picLocks noChangeAspect="1"/>
          </p:cNvPicPr>
          <p:nvPr/>
        </p:nvPicPr>
        <p:blipFill>
          <a:blip r:embed="rId3"/>
          <a:srcRect/>
          <a:stretch/>
        </p:blipFill>
        <p:spPr>
          <a:xfrm>
            <a:off x="6148773" y="1701292"/>
            <a:ext cx="3534960" cy="3429175"/>
          </a:xfrm>
          <a:prstGeom prst="rect">
            <a:avLst/>
          </a:prstGeom>
        </p:spPr>
      </p:pic>
    </p:spTree>
    <p:extLst>
      <p:ext uri="{BB962C8B-B14F-4D97-AF65-F5344CB8AC3E}">
        <p14:creationId xmlns:p14="http://schemas.microsoft.com/office/powerpoint/2010/main" val="1096573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B1C5F-0390-93E5-C983-939273BE5C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F3585-51D6-9001-B0B3-B8020AD1431E}"/>
              </a:ext>
            </a:extLst>
          </p:cNvPr>
          <p:cNvSpPr>
            <a:spLocks noGrp="1"/>
          </p:cNvSpPr>
          <p:nvPr>
            <p:ph type="title"/>
          </p:nvPr>
        </p:nvSpPr>
        <p:spPr>
          <a:xfrm>
            <a:off x="1333500" y="810206"/>
            <a:ext cx="9525000" cy="471664"/>
          </a:xfrm>
        </p:spPr>
        <p:txBody>
          <a:bodyPr>
            <a:normAutofit fontScale="90000"/>
          </a:bodyPr>
          <a:lstStyle/>
          <a:p>
            <a:r>
              <a:rPr lang="en-ZA" b="1" dirty="0"/>
              <a:t>Docker and Execution Instructions</a:t>
            </a:r>
            <a:br>
              <a:rPr lang="en-ZA" b="1" dirty="0"/>
            </a:br>
            <a:br>
              <a:rPr lang="en-ZA" b="1" dirty="0"/>
            </a:br>
            <a:br>
              <a:rPr lang="en-ZA" b="1" dirty="0"/>
            </a:br>
            <a:endParaRPr lang="en-ZA" dirty="0"/>
          </a:p>
        </p:txBody>
      </p:sp>
      <p:sp>
        <p:nvSpPr>
          <p:cNvPr id="3" name="Content Placeholder 2">
            <a:extLst>
              <a:ext uri="{FF2B5EF4-FFF2-40B4-BE49-F238E27FC236}">
                <a16:creationId xmlns:a16="http://schemas.microsoft.com/office/drawing/2014/main" id="{D9ADE887-68D7-C256-EC04-81A9F0C5CF5B}"/>
              </a:ext>
            </a:extLst>
          </p:cNvPr>
          <p:cNvSpPr>
            <a:spLocks noGrp="1"/>
          </p:cNvSpPr>
          <p:nvPr>
            <p:ph sz="quarter" idx="10"/>
          </p:nvPr>
        </p:nvSpPr>
        <p:spPr>
          <a:xfrm>
            <a:off x="1333499" y="1368179"/>
            <a:ext cx="10032408" cy="4895888"/>
          </a:xfrm>
        </p:spPr>
        <p:txBody>
          <a:bodyPr>
            <a:normAutofit fontScale="32500" lnSpcReduction="20000"/>
          </a:bodyPr>
          <a:lstStyle/>
          <a:p>
            <a:pPr marL="0" indent="0">
              <a:buNone/>
            </a:pPr>
            <a:r>
              <a:rPr lang="en-ZA" sz="3700" b="1" dirty="0" err="1"/>
              <a:t>Dockerfile</a:t>
            </a:r>
            <a:endParaRPr lang="en-ZA" sz="3700" b="1" dirty="0"/>
          </a:p>
          <a:p>
            <a:pPr marL="0" indent="0">
              <a:buNone/>
            </a:pPr>
            <a:r>
              <a:rPr lang="en-US" sz="3700" dirty="0"/>
              <a:t>FROM gcc:11</a:t>
            </a:r>
          </a:p>
          <a:p>
            <a:pPr marL="0" indent="0">
              <a:buNone/>
            </a:pPr>
            <a:r>
              <a:rPr lang="en-US" sz="3700" dirty="0"/>
              <a:t>WORKDIR /app</a:t>
            </a:r>
          </a:p>
          <a:p>
            <a:pPr marL="0" indent="0">
              <a:buNone/>
            </a:pPr>
            <a:r>
              <a:rPr lang="en-US" sz="3700" dirty="0"/>
              <a:t>COPY . .</a:t>
            </a:r>
          </a:p>
          <a:p>
            <a:pPr marL="0" indent="0">
              <a:buNone/>
            </a:pPr>
            <a:r>
              <a:rPr lang="en-US" sz="3700" dirty="0"/>
              <a:t>RUN make clean &amp;&amp; make</a:t>
            </a:r>
          </a:p>
          <a:p>
            <a:pPr marL="0" indent="0">
              <a:buNone/>
            </a:pPr>
            <a:r>
              <a:rPr lang="en-US" sz="3700" dirty="0"/>
              <a:t>CMD ["./</a:t>
            </a:r>
            <a:r>
              <a:rPr lang="en-US" sz="3700" dirty="0" err="1"/>
              <a:t>CampusGuard</a:t>
            </a:r>
            <a:r>
              <a:rPr lang="en-US" sz="3700" dirty="0"/>
              <a:t>"]</a:t>
            </a:r>
          </a:p>
          <a:p>
            <a:pPr marL="0" indent="0">
              <a:buNone/>
            </a:pPr>
            <a:endParaRPr lang="en-US" sz="3700" dirty="0"/>
          </a:p>
          <a:p>
            <a:pPr marL="0" indent="0">
              <a:buNone/>
            </a:pPr>
            <a:r>
              <a:rPr lang="en-ZA" sz="3700" b="1" dirty="0"/>
              <a:t>docker-</a:t>
            </a:r>
            <a:r>
              <a:rPr lang="en-ZA" sz="3700" b="1" dirty="0" err="1"/>
              <a:t>compose.yml</a:t>
            </a:r>
            <a:endParaRPr lang="en-ZA" sz="3700" b="1" dirty="0"/>
          </a:p>
          <a:p>
            <a:pPr marL="0" indent="0">
              <a:buNone/>
            </a:pPr>
            <a:r>
              <a:rPr lang="en-US" sz="3700" dirty="0"/>
              <a:t>version: '3'</a:t>
            </a:r>
          </a:p>
          <a:p>
            <a:pPr marL="0" indent="0">
              <a:buNone/>
            </a:pPr>
            <a:r>
              <a:rPr lang="en-US" sz="3700" dirty="0"/>
              <a:t>services:</a:t>
            </a:r>
          </a:p>
          <a:p>
            <a:pPr marL="0" indent="0">
              <a:buNone/>
            </a:pPr>
            <a:r>
              <a:rPr lang="en-US" sz="3700" dirty="0"/>
              <a:t>  </a:t>
            </a:r>
            <a:r>
              <a:rPr lang="en-US" sz="3700" dirty="0" err="1"/>
              <a:t>campusguard</a:t>
            </a:r>
            <a:r>
              <a:rPr lang="en-US" sz="3700" dirty="0"/>
              <a:t>:</a:t>
            </a:r>
          </a:p>
          <a:p>
            <a:pPr marL="0" indent="0">
              <a:buNone/>
            </a:pPr>
            <a:r>
              <a:rPr lang="en-US" sz="3700" dirty="0"/>
              <a:t>    build: .</a:t>
            </a:r>
          </a:p>
          <a:p>
            <a:pPr marL="0" indent="0">
              <a:buNone/>
            </a:pPr>
            <a:r>
              <a:rPr lang="en-US" sz="3700" dirty="0"/>
              <a:t>    image: </a:t>
            </a:r>
            <a:r>
              <a:rPr lang="en-US" sz="3700" dirty="0" err="1"/>
              <a:t>campusguard_app</a:t>
            </a:r>
            <a:endParaRPr lang="en-US" sz="3700" dirty="0"/>
          </a:p>
          <a:p>
            <a:pPr marL="0" indent="0">
              <a:buNone/>
            </a:pPr>
            <a:endParaRPr lang="en-US" sz="3800" dirty="0"/>
          </a:p>
          <a:p>
            <a:pPr marL="0" indent="0">
              <a:buNone/>
            </a:pPr>
            <a:r>
              <a:rPr lang="en-US" sz="3800" dirty="0"/>
              <a:t>To build and run the complete application inside Docker for the demonstration, run the following command in the root directory:</a:t>
            </a:r>
          </a:p>
          <a:p>
            <a:pPr marL="0" indent="0">
              <a:buNone/>
            </a:pPr>
            <a:r>
              <a:rPr lang="en-US" sz="4300" dirty="0"/>
              <a:t>docker compose up --build</a:t>
            </a:r>
          </a:p>
          <a:p>
            <a:pPr marL="0" indent="0">
              <a:buNone/>
            </a:pPr>
            <a:endParaRPr lang="en-US" sz="3700" dirty="0"/>
          </a:p>
          <a:p>
            <a:pPr marL="0" indent="0">
              <a:buNone/>
            </a:pPr>
            <a:endParaRPr lang="en-US" sz="3700" dirty="0"/>
          </a:p>
          <a:p>
            <a:pPr marL="0" indent="0">
              <a:buNone/>
            </a:pPr>
            <a:endParaRPr lang="en-US" sz="3700" dirty="0"/>
          </a:p>
          <a:p>
            <a:pPr marL="0" indent="0">
              <a:buNone/>
            </a:pPr>
            <a:endParaRPr lang="en-US" sz="3700" dirty="0"/>
          </a:p>
          <a:p>
            <a:pPr marL="0" indent="0">
              <a:buNone/>
            </a:pPr>
            <a:endParaRPr lang="en-ZA" sz="3700" b="1" dirty="0"/>
          </a:p>
          <a:p>
            <a:pPr marL="0" indent="0">
              <a:buNone/>
            </a:pPr>
            <a:endParaRPr lang="en-US" sz="3700" dirty="0"/>
          </a:p>
          <a:p>
            <a:pPr marL="0" indent="0">
              <a:buNone/>
            </a:pPr>
            <a:endParaRPr lang="en-US" sz="3700" dirty="0"/>
          </a:p>
        </p:txBody>
      </p:sp>
      <p:sp>
        <p:nvSpPr>
          <p:cNvPr id="4" name="Slide Number Placeholder 3">
            <a:extLst>
              <a:ext uri="{FF2B5EF4-FFF2-40B4-BE49-F238E27FC236}">
                <a16:creationId xmlns:a16="http://schemas.microsoft.com/office/drawing/2014/main" id="{350B53BB-BFEA-F6C4-A446-35C046B8C390}"/>
              </a:ext>
            </a:extLst>
          </p:cNvPr>
          <p:cNvSpPr>
            <a:spLocks noGrp="1"/>
          </p:cNvSpPr>
          <p:nvPr>
            <p:ph type="sldNum" sz="quarter" idx="4"/>
          </p:nvPr>
        </p:nvSpPr>
        <p:spPr/>
        <p:txBody>
          <a:bodyPr/>
          <a:lstStyle/>
          <a:p>
            <a:fld id="{08AB70BE-1769-45B8-85A6-0C837432C7E6}" type="slidenum">
              <a:rPr lang="en-US" smtClean="0"/>
              <a:pPr/>
              <a:t>15</a:t>
            </a:fld>
            <a:endParaRPr lang="en-US" dirty="0"/>
          </a:p>
        </p:txBody>
      </p:sp>
      <p:sp>
        <p:nvSpPr>
          <p:cNvPr id="7" name="Rectangle 3">
            <a:extLst>
              <a:ext uri="{FF2B5EF4-FFF2-40B4-BE49-F238E27FC236}">
                <a16:creationId xmlns:a16="http://schemas.microsoft.com/office/drawing/2014/main" id="{3C9DFA71-A526-2325-23EC-97788D44C696}"/>
              </a:ext>
            </a:extLst>
          </p:cNvPr>
          <p:cNvSpPr>
            <a:spLocks noChangeArrowheads="1"/>
          </p:cNvSpPr>
          <p:nvPr/>
        </p:nvSpPr>
        <p:spPr bwMode="auto">
          <a:xfrm>
            <a:off x="0" y="-63788"/>
            <a:ext cx="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CCCCCC"/>
              </a:solidFill>
              <a:effectLst/>
              <a:latin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CCCCCC"/>
                </a:solidFill>
                <a:effectLst/>
                <a:latin typeface="Courier New" panose="02070309020205020404" pitchFamily="49" charset="0"/>
                <a:cs typeface="Courier New" panose="02070309020205020404" pitchFamily="49"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4768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E3D0E-9844-556B-2FC8-C61AFB64D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F0D564-D412-D321-2F9D-A7E6F88D4E86}"/>
              </a:ext>
            </a:extLst>
          </p:cNvPr>
          <p:cNvSpPr>
            <a:spLocks noGrp="1"/>
          </p:cNvSpPr>
          <p:nvPr>
            <p:ph type="title"/>
          </p:nvPr>
        </p:nvSpPr>
        <p:spPr>
          <a:xfrm>
            <a:off x="1333499" y="1237496"/>
            <a:ext cx="9525000" cy="471664"/>
          </a:xfrm>
        </p:spPr>
        <p:txBody>
          <a:bodyPr>
            <a:normAutofit fontScale="90000"/>
          </a:bodyPr>
          <a:lstStyle/>
          <a:p>
            <a:r>
              <a:rPr lang="en-US" b="1" dirty="0"/>
              <a:t> GitHub Repository Link and Collaboration Reflection</a:t>
            </a:r>
            <a:br>
              <a:rPr lang="en-US" b="1" dirty="0"/>
            </a:br>
            <a:br>
              <a:rPr lang="en-ZA" b="1" dirty="0"/>
            </a:br>
            <a:br>
              <a:rPr lang="en-ZA" b="1" dirty="0"/>
            </a:br>
            <a:br>
              <a:rPr lang="en-ZA" b="1" dirty="0"/>
            </a:br>
            <a:endParaRPr lang="en-ZA" dirty="0"/>
          </a:p>
        </p:txBody>
      </p:sp>
      <p:sp>
        <p:nvSpPr>
          <p:cNvPr id="3" name="Content Placeholder 2">
            <a:extLst>
              <a:ext uri="{FF2B5EF4-FFF2-40B4-BE49-F238E27FC236}">
                <a16:creationId xmlns:a16="http://schemas.microsoft.com/office/drawing/2014/main" id="{EC11224F-13BB-1B90-FA9E-9F8D5CA7EEEF}"/>
              </a:ext>
            </a:extLst>
          </p:cNvPr>
          <p:cNvSpPr>
            <a:spLocks noGrp="1"/>
          </p:cNvSpPr>
          <p:nvPr>
            <p:ph sz="quarter" idx="10"/>
          </p:nvPr>
        </p:nvSpPr>
        <p:spPr>
          <a:xfrm>
            <a:off x="1333499" y="1368179"/>
            <a:ext cx="10032408" cy="4895888"/>
          </a:xfrm>
        </p:spPr>
        <p:txBody>
          <a:bodyPr>
            <a:normAutofit/>
          </a:bodyPr>
          <a:lstStyle/>
          <a:p>
            <a:pPr marL="0" indent="0">
              <a:buNone/>
            </a:pPr>
            <a:r>
              <a:rPr lang="en-ZA" b="1" dirty="0"/>
              <a:t>Repository Link:</a:t>
            </a:r>
            <a:br>
              <a:rPr lang="en-ZA" b="1" dirty="0"/>
            </a:br>
            <a:r>
              <a:rPr lang="en-ZA" b="1" dirty="0">
                <a:hlinkClick r:id="rId2"/>
              </a:rPr>
              <a:t>https://github.com/Mat6577/COS214_Practical5</a:t>
            </a:r>
            <a:endParaRPr lang="en-ZA" b="1" dirty="0"/>
          </a:p>
          <a:p>
            <a:pPr marL="0" indent="0">
              <a:buNone/>
            </a:pPr>
            <a:r>
              <a:rPr lang="en-ZA" b="1" dirty="0"/>
              <a:t>Collaboration Reflection:</a:t>
            </a:r>
            <a:endParaRPr lang="en-US" sz="3700" dirty="0"/>
          </a:p>
          <a:p>
            <a:pPr marL="0" indent="0">
              <a:buNone/>
            </a:pPr>
            <a:endParaRPr lang="en-ZA" sz="1600" dirty="0"/>
          </a:p>
          <a:p>
            <a:pPr marL="0" indent="0">
              <a:buNone/>
            </a:pPr>
            <a:r>
              <a:rPr lang="en-ZA" dirty="0"/>
              <a:t>We began communicating as soon as the practical was released, which allowed us to divide the work equally. As a result, every member contributed to each component: writing code, designing the UML diagrams, and using a developer tool.</a:t>
            </a:r>
          </a:p>
          <a:p>
            <a:pPr marL="0" indent="0">
              <a:buNone/>
            </a:pPr>
            <a:endParaRPr lang="en-US" sz="3700" dirty="0"/>
          </a:p>
        </p:txBody>
      </p:sp>
      <p:sp>
        <p:nvSpPr>
          <p:cNvPr id="4" name="Slide Number Placeholder 3">
            <a:extLst>
              <a:ext uri="{FF2B5EF4-FFF2-40B4-BE49-F238E27FC236}">
                <a16:creationId xmlns:a16="http://schemas.microsoft.com/office/drawing/2014/main" id="{38B90E06-998C-C843-675F-1781467625C5}"/>
              </a:ext>
            </a:extLst>
          </p:cNvPr>
          <p:cNvSpPr>
            <a:spLocks noGrp="1"/>
          </p:cNvSpPr>
          <p:nvPr>
            <p:ph type="sldNum" sz="quarter" idx="4"/>
          </p:nvPr>
        </p:nvSpPr>
        <p:spPr/>
        <p:txBody>
          <a:bodyPr/>
          <a:lstStyle/>
          <a:p>
            <a:fld id="{08AB70BE-1769-45B8-85A6-0C837432C7E6}" type="slidenum">
              <a:rPr lang="en-US" smtClean="0"/>
              <a:pPr/>
              <a:t>16</a:t>
            </a:fld>
            <a:endParaRPr lang="en-US" dirty="0"/>
          </a:p>
        </p:txBody>
      </p:sp>
      <p:sp>
        <p:nvSpPr>
          <p:cNvPr id="7" name="Rectangle 3">
            <a:extLst>
              <a:ext uri="{FF2B5EF4-FFF2-40B4-BE49-F238E27FC236}">
                <a16:creationId xmlns:a16="http://schemas.microsoft.com/office/drawing/2014/main" id="{E44E77E0-59F1-10D7-0CA9-9A82EA0E391D}"/>
              </a:ext>
            </a:extLst>
          </p:cNvPr>
          <p:cNvSpPr>
            <a:spLocks noChangeArrowheads="1"/>
          </p:cNvSpPr>
          <p:nvPr/>
        </p:nvSpPr>
        <p:spPr bwMode="auto">
          <a:xfrm>
            <a:off x="0" y="-63788"/>
            <a:ext cx="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CCCCCC"/>
              </a:solidFill>
              <a:effectLst/>
              <a:latin typeface="ui-monospace"/>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00" b="0" i="0" u="none" strike="noStrike" cap="none" normalizeH="0" baseline="0" dirty="0">
                <a:ln>
                  <a:noFill/>
                </a:ln>
                <a:solidFill>
                  <a:srgbClr val="CCCCCC"/>
                </a:solidFill>
                <a:effectLst/>
                <a:latin typeface="Courier New" panose="02070309020205020404" pitchFamily="49" charset="0"/>
                <a:cs typeface="Courier New" panose="02070309020205020404" pitchFamily="49"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00542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54B71-0495-14D0-3A5A-03BA68D0C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ABFE44-647D-7CE3-06B0-80BAD9411544}"/>
              </a:ext>
            </a:extLst>
          </p:cNvPr>
          <p:cNvSpPr>
            <a:spLocks noGrp="1"/>
          </p:cNvSpPr>
          <p:nvPr>
            <p:ph type="title"/>
          </p:nvPr>
        </p:nvSpPr>
        <p:spPr/>
        <p:txBody>
          <a:bodyPr/>
          <a:lstStyle/>
          <a:p>
            <a:r>
              <a:rPr lang="en-ZA" b="1" dirty="0"/>
              <a:t>Team Contribution Statements</a:t>
            </a:r>
            <a:br>
              <a:rPr lang="en-ZA" b="1" dirty="0"/>
            </a:br>
            <a:br>
              <a:rPr lang="en-ZA" b="1" dirty="0"/>
            </a:br>
            <a:endParaRPr lang="en-ZA" dirty="0"/>
          </a:p>
        </p:txBody>
      </p:sp>
      <p:sp>
        <p:nvSpPr>
          <p:cNvPr id="3" name="Content Placeholder 2">
            <a:extLst>
              <a:ext uri="{FF2B5EF4-FFF2-40B4-BE49-F238E27FC236}">
                <a16:creationId xmlns:a16="http://schemas.microsoft.com/office/drawing/2014/main" id="{D65CBCEB-36FF-4C57-4932-550BE78F7158}"/>
              </a:ext>
            </a:extLst>
          </p:cNvPr>
          <p:cNvSpPr>
            <a:spLocks noGrp="1"/>
          </p:cNvSpPr>
          <p:nvPr>
            <p:ph sz="quarter" idx="10"/>
          </p:nvPr>
        </p:nvSpPr>
        <p:spPr/>
        <p:txBody>
          <a:bodyPr>
            <a:normAutofit lnSpcReduction="10000"/>
          </a:bodyPr>
          <a:lstStyle/>
          <a:p>
            <a:r>
              <a:rPr lang="en-US" dirty="0"/>
              <a:t>Ashley:</a:t>
            </a:r>
          </a:p>
          <a:p>
            <a:endParaRPr lang="en-US" dirty="0"/>
          </a:p>
          <a:p>
            <a:endParaRPr lang="en-US" dirty="0"/>
          </a:p>
          <a:p>
            <a:r>
              <a:rPr lang="en-US" dirty="0"/>
              <a:t>Tebello: I worked on the main, Façade, and adapter, </a:t>
            </a:r>
            <a:r>
              <a:rPr lang="en-ZA" dirty="0"/>
              <a:t>which explains the large gap between my commits and my teammates commits</a:t>
            </a:r>
            <a:r>
              <a:rPr lang="en-US" dirty="0"/>
              <a:t>. The work was however, split equally, and each member implemented at least one pattern.</a:t>
            </a:r>
          </a:p>
          <a:p>
            <a:endParaRPr lang="en-US" dirty="0"/>
          </a:p>
          <a:p>
            <a:endParaRPr lang="en-US" dirty="0"/>
          </a:p>
          <a:p>
            <a:r>
              <a:rPr lang="en-US" dirty="0" err="1"/>
              <a:t>Navela</a:t>
            </a:r>
            <a:endParaRPr lang="en-ZA" dirty="0"/>
          </a:p>
        </p:txBody>
      </p:sp>
      <p:sp>
        <p:nvSpPr>
          <p:cNvPr id="4" name="Slide Number Placeholder 3">
            <a:extLst>
              <a:ext uri="{FF2B5EF4-FFF2-40B4-BE49-F238E27FC236}">
                <a16:creationId xmlns:a16="http://schemas.microsoft.com/office/drawing/2014/main" id="{A90B46D9-AE93-CF15-0711-7943F151A0A3}"/>
              </a:ext>
            </a:extLst>
          </p:cNvPr>
          <p:cNvSpPr>
            <a:spLocks noGrp="1"/>
          </p:cNvSpPr>
          <p:nvPr>
            <p:ph type="sldNum" sz="quarter" idx="4"/>
          </p:nvPr>
        </p:nvSpPr>
        <p:spPr/>
        <p:txBody>
          <a:bodyPr/>
          <a:lstStyle/>
          <a:p>
            <a:fld id="{08AB70BE-1769-45B8-85A6-0C837432C7E6}" type="slidenum">
              <a:rPr lang="en-US" smtClean="0"/>
              <a:pPr/>
              <a:t>17</a:t>
            </a:fld>
            <a:endParaRPr lang="en-US" dirty="0"/>
          </a:p>
        </p:txBody>
      </p:sp>
    </p:spTree>
    <p:extLst>
      <p:ext uri="{BB962C8B-B14F-4D97-AF65-F5344CB8AC3E}">
        <p14:creationId xmlns:p14="http://schemas.microsoft.com/office/powerpoint/2010/main" val="1774808201"/>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C5C2001-E626-4890-B405-22B5BD1CB05A}">
  <ds:schemaRefs>
    <ds:schemaRef ds:uri="http://schemas.microsoft.com/sharepoint/v3/contenttype/forms"/>
  </ds:schemaRefs>
</ds:datastoreItem>
</file>

<file path=customXml/itemProps2.xml><?xml version="1.0" encoding="utf-8"?>
<ds:datastoreItem xmlns:ds="http://schemas.openxmlformats.org/officeDocument/2006/customXml" ds:itemID="{55453AF4-4FB0-4B39-9296-55DED383E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0D7C3E5-1734-4636-9EC5-AEB06BF1FB2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 overlay design</Template>
  <TotalTime>113</TotalTime>
  <Words>824</Words>
  <Application>Microsoft Office PowerPoint</Application>
  <PresentationFormat>Widescreen</PresentationFormat>
  <Paragraphs>115</Paragraphs>
  <Slides>17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Arial Nova Light</vt:lpstr>
      <vt:lpstr>Calibri</vt:lpstr>
      <vt:lpstr>Courier New</vt:lpstr>
      <vt:lpstr>Elephant</vt:lpstr>
      <vt:lpstr>ui-monospace</vt:lpstr>
      <vt:lpstr>ModOverlayVTI</vt:lpstr>
      <vt:lpstr>  CampusGuard   Members:  Ashley Mthemba – u25072235  Tebello Mohohoma –   Navela Hlungwani –   </vt:lpstr>
      <vt:lpstr>System Description </vt:lpstr>
      <vt:lpstr>UML</vt:lpstr>
      <vt:lpstr>GoF Participant Mapping </vt:lpstr>
      <vt:lpstr>GoF Participant Mapping </vt:lpstr>
      <vt:lpstr>GoF Participant Mapping </vt:lpstr>
      <vt:lpstr>Justification for the Two Team-Selected Patterns  </vt:lpstr>
      <vt:lpstr>Behavioural Diagrams </vt:lpstr>
      <vt:lpstr>Behavioural Diagrams </vt:lpstr>
      <vt:lpstr>Behavioural Diagrams </vt:lpstr>
      <vt:lpstr>Design and Ownership Rationale  </vt:lpstr>
      <vt:lpstr>GDB Investigation   </vt:lpstr>
      <vt:lpstr>GDB Investigation   </vt:lpstr>
      <vt:lpstr>Valgrind Evidence       Before                      vs               After  </vt:lpstr>
      <vt:lpstr>Docker and Execution Instructions   </vt:lpstr>
      <vt:lpstr> GitHub Repository Link and Collaboration Reflection    </vt:lpstr>
      <vt:lpstr>Team Contribution Statements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ATS Mthemba</dc:creator>
  <cp:lastModifiedBy>mat mohohoma</cp:lastModifiedBy>
  <cp:revision>5</cp:revision>
  <dcterms:created xsi:type="dcterms:W3CDTF">2026-09-19T17:18:30Z</dcterms:created>
  <dcterms:modified xsi:type="dcterms:W3CDTF">2026-09-19T23:55:58Z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